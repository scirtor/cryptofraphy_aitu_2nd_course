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24"/>
  </p:notesMasterIdLst>
  <p:handoutMasterIdLst>
    <p:handoutMasterId r:id="rId25"/>
  </p:handoutMasterIdLst>
  <p:sldIdLst>
    <p:sldId id="256" r:id="rId5"/>
    <p:sldId id="257" r:id="rId6"/>
    <p:sldId id="258" r:id="rId7"/>
    <p:sldId id="262" r:id="rId8"/>
    <p:sldId id="259" r:id="rId9"/>
    <p:sldId id="260" r:id="rId10"/>
    <p:sldId id="261"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12/8/2025</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12/8/2025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ru-KZ"/>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ru-KZ"/>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ru-KZ"/>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ru-KZ"/>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12/8/2025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ru-KZ"/>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ru-KZ"/>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ru-KZ"/>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ru-KZ"/>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ru-KZ"/>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12/8/2025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dcode.fr/modulo-n-calculator" TargetMode="External"/><Relationship Id="rId2" Type="http://schemas.openxmlformats.org/officeDocument/2006/relationships/hyperlink" Target="https://www.dcode.fr/affine-cipher" TargetMode="External"/><Relationship Id="rId1" Type="http://schemas.openxmlformats.org/officeDocument/2006/relationships/slideLayout" Target="../slideLayouts/slideLayout2.xml"/><Relationship Id="rId4" Type="http://schemas.openxmlformats.org/officeDocument/2006/relationships/hyperlink" Target="https://www.dcode.fr/matrix-%3Ca%20href="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D3E5-C7A3-47DF-A374-46BF83A69904}"/>
              </a:ext>
            </a:extLst>
          </p:cNvPr>
          <p:cNvSpPr>
            <a:spLocks noGrp="1"/>
          </p:cNvSpPr>
          <p:nvPr>
            <p:ph type="ctrTitle"/>
          </p:nvPr>
        </p:nvSpPr>
        <p:spPr>
          <a:xfrm>
            <a:off x="2175003" y="1871208"/>
            <a:ext cx="8791575" cy="1074673"/>
          </a:xfrm>
        </p:spPr>
        <p:txBody>
          <a:bodyPr>
            <a:normAutofit/>
          </a:bodyPr>
          <a:lstStyle/>
          <a:p>
            <a:pPr algn="ctr"/>
            <a:r>
              <a:rPr lang="en-US" sz="6000" dirty="0">
                <a:latin typeface="Rockwell" panose="02060603020205020403" pitchFamily="18" charset="0"/>
              </a:rPr>
              <a:t>CRYPTOGRAPHY</a:t>
            </a:r>
          </a:p>
        </p:txBody>
      </p:sp>
      <p:sp>
        <p:nvSpPr>
          <p:cNvPr id="3" name="Subtitle 2">
            <a:extLst>
              <a:ext uri="{FF2B5EF4-FFF2-40B4-BE49-F238E27FC236}">
                <a16:creationId xmlns:a16="http://schemas.microsoft.com/office/drawing/2014/main" id="{2E78725B-6E40-4D82-B375-7831D81C29EE}"/>
              </a:ext>
            </a:extLst>
          </p:cNvPr>
          <p:cNvSpPr>
            <a:spLocks noGrp="1"/>
          </p:cNvSpPr>
          <p:nvPr>
            <p:ph type="subTitle" idx="1"/>
          </p:nvPr>
        </p:nvSpPr>
        <p:spPr>
          <a:xfrm>
            <a:off x="1895085" y="3429000"/>
            <a:ext cx="8791575" cy="1655762"/>
          </a:xfrm>
        </p:spPr>
        <p:txBody>
          <a:bodyPr>
            <a:normAutofit/>
          </a:bodyPr>
          <a:lstStyle/>
          <a:p>
            <a:endParaRPr lang="en-US" sz="11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p:txBody>
          <a:bodyPr>
            <a:normAutofit/>
          </a:bodyPr>
          <a:lstStyle/>
          <a:p>
            <a:r>
              <a:rPr lang="en-US" sz="4400" dirty="0">
                <a:solidFill>
                  <a:schemeClr val="bg1"/>
                </a:solidFill>
                <a:latin typeface="Rockwell" panose="02060603020205020403" pitchFamily="18" charset="0"/>
              </a:rPr>
              <a:t>WEEK 1</a:t>
            </a:r>
            <a:br>
              <a:rPr lang="en-US" sz="4400" dirty="0">
                <a:solidFill>
                  <a:schemeClr val="bg1"/>
                </a:solidFill>
                <a:latin typeface="Rockwell" panose="02060603020205020403" pitchFamily="18" charset="0"/>
              </a:rPr>
            </a:br>
            <a:r>
              <a:rPr lang="en-US" sz="2800" dirty="0">
                <a:solidFill>
                  <a:schemeClr val="bg1"/>
                </a:solidFill>
                <a:latin typeface="Rockwell" panose="02060603020205020403" pitchFamily="18" charset="0"/>
              </a:rPr>
              <a:t>Classical Cryptography</a:t>
            </a:r>
          </a:p>
        </p:txBody>
      </p:sp>
      <p:sp>
        <p:nvSpPr>
          <p:cNvPr id="5" name="Content Placeholder 4">
            <a:extLst>
              <a:ext uri="{FF2B5EF4-FFF2-40B4-BE49-F238E27FC236}">
                <a16:creationId xmlns:a16="http://schemas.microsoft.com/office/drawing/2014/main" id="{2E9FBADE-79E5-87FE-0A43-DF7130245521}"/>
              </a:ext>
            </a:extLst>
          </p:cNvPr>
          <p:cNvSpPr>
            <a:spLocks noGrp="1"/>
          </p:cNvSpPr>
          <p:nvPr>
            <p:ph idx="1"/>
          </p:nvPr>
        </p:nvSpPr>
        <p:spPr/>
        <p:txBody>
          <a:bodyPr>
            <a:normAutofit fontScale="85000" lnSpcReduction="20000"/>
          </a:bodyPr>
          <a:lstStyle/>
          <a:p>
            <a:r>
              <a:rPr lang="en-US" dirty="0"/>
              <a:t>Shift Cipher</a:t>
            </a:r>
          </a:p>
          <a:p>
            <a:r>
              <a:rPr lang="en-US" dirty="0"/>
              <a:t>Substitution cipher</a:t>
            </a:r>
          </a:p>
          <a:p>
            <a:r>
              <a:rPr lang="en-US" dirty="0"/>
              <a:t>Affine cipher</a:t>
            </a:r>
          </a:p>
          <a:p>
            <a:r>
              <a:rPr lang="en-US" dirty="0" err="1"/>
              <a:t>Vigenere</a:t>
            </a:r>
            <a:r>
              <a:rPr lang="en-US" dirty="0"/>
              <a:t> cipher</a:t>
            </a:r>
          </a:p>
          <a:p>
            <a:r>
              <a:rPr lang="en-US" dirty="0"/>
              <a:t>Hill cipher</a:t>
            </a:r>
          </a:p>
          <a:p>
            <a:r>
              <a:rPr lang="en-US" dirty="0"/>
              <a:t>Permutation cipher</a:t>
            </a:r>
          </a:p>
          <a:p>
            <a:r>
              <a:rPr lang="en-US" dirty="0"/>
              <a:t>Stream cipher</a:t>
            </a:r>
          </a:p>
          <a:p>
            <a:r>
              <a:rPr lang="en-US" dirty="0" err="1"/>
              <a:t>Criptanalysis</a:t>
            </a:r>
            <a:r>
              <a:rPr lang="en-US" dirty="0"/>
              <a:t> of classical cipher</a:t>
            </a:r>
          </a:p>
        </p:txBody>
      </p:sp>
    </p:spTree>
    <p:extLst>
      <p:ext uri="{BB962C8B-B14F-4D97-AF65-F5344CB8AC3E}">
        <p14:creationId xmlns:p14="http://schemas.microsoft.com/office/powerpoint/2010/main" val="3253689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F16F-D414-FB03-FA19-27DC7AC37934}"/>
              </a:ext>
            </a:extLst>
          </p:cNvPr>
          <p:cNvSpPr>
            <a:spLocks noGrp="1"/>
          </p:cNvSpPr>
          <p:nvPr>
            <p:ph type="title"/>
          </p:nvPr>
        </p:nvSpPr>
        <p:spPr/>
        <p:txBody>
          <a:bodyPr/>
          <a:lstStyle/>
          <a:p>
            <a:r>
              <a:rPr lang="en-US" sz="3600" b="0" i="0" dirty="0">
                <a:solidFill>
                  <a:srgbClr val="0D0D0D"/>
                </a:solidFill>
                <a:effectLst/>
                <a:latin typeface="Söhne"/>
              </a:rPr>
              <a:t>The Shift Cipher</a:t>
            </a:r>
            <a:endParaRPr lang="en-US" dirty="0"/>
          </a:p>
        </p:txBody>
      </p:sp>
      <p:sp>
        <p:nvSpPr>
          <p:cNvPr id="3" name="Content Placeholder 2">
            <a:extLst>
              <a:ext uri="{FF2B5EF4-FFF2-40B4-BE49-F238E27FC236}">
                <a16:creationId xmlns:a16="http://schemas.microsoft.com/office/drawing/2014/main" id="{0B96A086-2B29-5C7C-E1E9-0054C45AE28F}"/>
              </a:ext>
            </a:extLst>
          </p:cNvPr>
          <p:cNvSpPr>
            <a:spLocks noGrp="1"/>
          </p:cNvSpPr>
          <p:nvPr>
            <p:ph idx="1"/>
          </p:nvPr>
        </p:nvSpPr>
        <p:spPr/>
        <p:txBody>
          <a:bodyPr>
            <a:normAutofit/>
          </a:bodyPr>
          <a:lstStyle/>
          <a:p>
            <a:pPr marL="0" indent="0" algn="just">
              <a:buNone/>
            </a:pPr>
            <a:br>
              <a:rPr lang="en-US" sz="1200" dirty="0"/>
            </a:br>
            <a:r>
              <a:rPr lang="en-US" sz="1600" b="0" i="0" dirty="0">
                <a:solidFill>
                  <a:srgbClr val="0D0D0D"/>
                </a:solidFill>
                <a:effectLst/>
                <a:latin typeface="Söhne"/>
              </a:rPr>
              <a:t>Shift ciphers operate by employing the modulo operation for both encryption and decryption of messages. Each shift cipher has a unique key, denoted as K, which is an integer ranging from 0 to 25. This key is exclusively disclosed to individuals whom we intend to share our message with.</a:t>
            </a:r>
          </a:p>
          <a:p>
            <a:pPr marL="0" indent="0" algn="just">
              <a:buNone/>
            </a:pPr>
            <a:r>
              <a:rPr lang="en-US" sz="1600" dirty="0">
                <a:solidFill>
                  <a:srgbClr val="21242C"/>
                </a:solidFill>
                <a:latin typeface="Lato" panose="020F0502020204030203" pitchFamily="34" charset="0"/>
              </a:rPr>
              <a:t>Alphabet from A=0 to Z=25, for encryption calculate Y=(X+K)mod26, for decryption calculate X=(Y-K)mod26</a:t>
            </a:r>
            <a:endParaRPr lang="en-US" sz="1600" b="0" i="0" dirty="0">
              <a:solidFill>
                <a:srgbClr val="21242C"/>
              </a:solidFill>
              <a:effectLst/>
              <a:latin typeface="Lato" panose="020F0502020204030203" pitchFamily="34" charset="0"/>
            </a:endParaRPr>
          </a:p>
          <a:p>
            <a:endParaRPr lang="en-US" sz="1600" dirty="0">
              <a:solidFill>
                <a:srgbClr val="21242C"/>
              </a:solidFill>
              <a:latin typeface="Lato" panose="020F0502020204030203" pitchFamily="34" charset="0"/>
            </a:endParaRPr>
          </a:p>
          <a:p>
            <a:pPr marL="0" indent="0">
              <a:buNone/>
            </a:pPr>
            <a:endParaRPr lang="en-US" sz="1600" dirty="0">
              <a:solidFill>
                <a:srgbClr val="21242C"/>
              </a:solidFill>
              <a:latin typeface="Lato" panose="020F0502020204030203" pitchFamily="34" charset="0"/>
            </a:endParaRPr>
          </a:p>
        </p:txBody>
      </p:sp>
      <p:pic>
        <p:nvPicPr>
          <p:cNvPr id="4" name="Рисунок 3">
            <a:extLst>
              <a:ext uri="{FF2B5EF4-FFF2-40B4-BE49-F238E27FC236}">
                <a16:creationId xmlns:a16="http://schemas.microsoft.com/office/drawing/2014/main" id="{4C93B894-A071-F75F-7CB8-34FAD8A849F3}"/>
              </a:ext>
            </a:extLst>
          </p:cNvPr>
          <p:cNvPicPr>
            <a:picLocks noChangeAspect="1"/>
          </p:cNvPicPr>
          <p:nvPr/>
        </p:nvPicPr>
        <p:blipFill>
          <a:blip r:embed="rId2"/>
          <a:stretch>
            <a:fillRect/>
          </a:stretch>
        </p:blipFill>
        <p:spPr>
          <a:xfrm>
            <a:off x="1548880" y="4320930"/>
            <a:ext cx="8566866" cy="670948"/>
          </a:xfrm>
          <a:prstGeom prst="rect">
            <a:avLst/>
          </a:prstGeom>
        </p:spPr>
      </p:pic>
    </p:spTree>
    <p:extLst>
      <p:ext uri="{BB962C8B-B14F-4D97-AF65-F5344CB8AC3E}">
        <p14:creationId xmlns:p14="http://schemas.microsoft.com/office/powerpoint/2010/main" val="2615925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E9718-13A6-DDB2-756D-D610E4C02386}"/>
              </a:ext>
            </a:extLst>
          </p:cNvPr>
          <p:cNvSpPr>
            <a:spLocks noGrp="1"/>
          </p:cNvSpPr>
          <p:nvPr>
            <p:ph type="title"/>
          </p:nvPr>
        </p:nvSpPr>
        <p:spPr/>
        <p:txBody>
          <a:bodyPr/>
          <a:lstStyle/>
          <a:p>
            <a:r>
              <a:rPr lang="en-US" dirty="0"/>
              <a:t>Assignment 1.1</a:t>
            </a:r>
          </a:p>
        </p:txBody>
      </p:sp>
      <p:sp>
        <p:nvSpPr>
          <p:cNvPr id="3" name="Content Placeholder 2">
            <a:extLst>
              <a:ext uri="{FF2B5EF4-FFF2-40B4-BE49-F238E27FC236}">
                <a16:creationId xmlns:a16="http://schemas.microsoft.com/office/drawing/2014/main" id="{39FE93AF-50FC-C631-9634-1031FECE1B1E}"/>
              </a:ext>
            </a:extLst>
          </p:cNvPr>
          <p:cNvSpPr>
            <a:spLocks noGrp="1"/>
          </p:cNvSpPr>
          <p:nvPr>
            <p:ph idx="1"/>
          </p:nvPr>
        </p:nvSpPr>
        <p:spPr/>
        <p:txBody>
          <a:bodyPr/>
          <a:lstStyle/>
          <a:p>
            <a:r>
              <a:rPr lang="en-US" sz="2400" dirty="0">
                <a:solidFill>
                  <a:srgbClr val="21242C"/>
                </a:solidFill>
                <a:latin typeface="Lato" panose="020F0502020204030203" pitchFamily="34" charset="0"/>
              </a:rPr>
              <a:t>Task: </a:t>
            </a:r>
          </a:p>
          <a:p>
            <a:pPr marL="0" indent="0">
              <a:buNone/>
            </a:pPr>
            <a:r>
              <a:rPr lang="en-US" sz="2400" dirty="0">
                <a:solidFill>
                  <a:srgbClr val="21242C"/>
                </a:solidFill>
                <a:latin typeface="Lato" panose="020F0502020204030203" pitchFamily="34" charset="0"/>
              </a:rPr>
              <a:t>a)</a:t>
            </a:r>
            <a:r>
              <a:rPr lang="en-US" sz="1800" b="0" i="0" dirty="0">
                <a:solidFill>
                  <a:srgbClr val="21242C"/>
                </a:solidFill>
                <a:effectLst/>
                <a:latin typeface="Lato" panose="020F0502020204030203" pitchFamily="34" charset="0"/>
              </a:rPr>
              <a:t> </a:t>
            </a:r>
            <a:r>
              <a:rPr lang="en-US" sz="2400" dirty="0">
                <a:solidFill>
                  <a:srgbClr val="21242C"/>
                </a:solidFill>
                <a:latin typeface="Lato" panose="020F0502020204030203" pitchFamily="34" charset="0"/>
              </a:rPr>
              <a:t>By using</a:t>
            </a:r>
            <a:r>
              <a:rPr lang="en-US" sz="2400" b="0" i="0" dirty="0">
                <a:solidFill>
                  <a:srgbClr val="21242C"/>
                </a:solidFill>
                <a:effectLst/>
                <a:latin typeface="Lato" panose="020F0502020204030203" pitchFamily="34" charset="0"/>
              </a:rPr>
              <a:t> the Shift Cipher with </a:t>
            </a:r>
            <a:r>
              <a:rPr lang="en-US" sz="2400" b="1" i="0" dirty="0">
                <a:solidFill>
                  <a:srgbClr val="21242C"/>
                </a:solidFill>
                <a:effectLst/>
                <a:latin typeface="Lato" panose="020F0502020204030203" pitchFamily="34" charset="0"/>
              </a:rPr>
              <a:t>key K=19</a:t>
            </a:r>
            <a:r>
              <a:rPr lang="en-US" sz="2400" dirty="0">
                <a:solidFill>
                  <a:srgbClr val="21242C"/>
                </a:solidFill>
                <a:latin typeface="Lato" panose="020F0502020204030203" pitchFamily="34" charset="0"/>
              </a:rPr>
              <a:t> </a:t>
            </a:r>
            <a:r>
              <a:rPr lang="en-US" sz="2400" b="0" i="0" dirty="0">
                <a:solidFill>
                  <a:srgbClr val="21242C"/>
                </a:solidFill>
                <a:effectLst/>
                <a:latin typeface="Lato" panose="020F0502020204030203" pitchFamily="34" charset="0"/>
              </a:rPr>
              <a:t>send your NAME as a message by encrypting it. </a:t>
            </a:r>
          </a:p>
          <a:p>
            <a:pPr marL="0" indent="0">
              <a:buNone/>
            </a:pPr>
            <a:r>
              <a:rPr lang="en-US" sz="2400" dirty="0">
                <a:solidFill>
                  <a:srgbClr val="21242C"/>
                </a:solidFill>
                <a:latin typeface="Lato" panose="020F0502020204030203" pitchFamily="34" charset="0"/>
              </a:rPr>
              <a:t>b) Show how the receiver will decrypt the message.</a:t>
            </a:r>
            <a:endParaRPr lang="en-US" sz="2400" b="0" i="0" dirty="0">
              <a:solidFill>
                <a:srgbClr val="21242C"/>
              </a:solidFill>
              <a:effectLst/>
              <a:latin typeface="Lato" panose="020F0502020204030203" pitchFamily="34" charset="0"/>
            </a:endParaRPr>
          </a:p>
          <a:p>
            <a:endParaRPr lang="en-US" dirty="0"/>
          </a:p>
        </p:txBody>
      </p:sp>
    </p:spTree>
    <p:extLst>
      <p:ext uri="{BB962C8B-B14F-4D97-AF65-F5344CB8AC3E}">
        <p14:creationId xmlns:p14="http://schemas.microsoft.com/office/powerpoint/2010/main" val="2282409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F5E09-F440-83AA-4C75-032FC9FC1535}"/>
              </a:ext>
            </a:extLst>
          </p:cNvPr>
          <p:cNvSpPr>
            <a:spLocks noGrp="1"/>
          </p:cNvSpPr>
          <p:nvPr>
            <p:ph type="title"/>
          </p:nvPr>
        </p:nvSpPr>
        <p:spPr>
          <a:xfrm>
            <a:off x="1141413" y="546130"/>
            <a:ext cx="9905998" cy="996076"/>
          </a:xfrm>
        </p:spPr>
        <p:txBody>
          <a:bodyPr>
            <a:normAutofit fontScale="90000"/>
          </a:bodyPr>
          <a:lstStyle/>
          <a:p>
            <a:br>
              <a:rPr lang="en-US" dirty="0"/>
            </a:br>
            <a:r>
              <a:rPr lang="en-US" dirty="0">
                <a:solidFill>
                  <a:schemeClr val="bg1"/>
                </a:solidFill>
              </a:rPr>
              <a:t>The Affine cipher</a:t>
            </a:r>
          </a:p>
        </p:txBody>
      </p:sp>
      <p:pic>
        <p:nvPicPr>
          <p:cNvPr id="1026" name="Picture 2" descr="basic implementation of affine cipher">
            <a:extLst>
              <a:ext uri="{FF2B5EF4-FFF2-40B4-BE49-F238E27FC236}">
                <a16:creationId xmlns:a16="http://schemas.microsoft.com/office/drawing/2014/main" id="{F6A150F2-8821-3F03-468B-7975891641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1671" y="4631097"/>
            <a:ext cx="7305512" cy="1851227"/>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48206866-E418-E605-8B09-6B1C532DCB40}"/>
              </a:ext>
            </a:extLst>
          </p:cNvPr>
          <p:cNvSpPr/>
          <p:nvPr/>
        </p:nvSpPr>
        <p:spPr>
          <a:xfrm>
            <a:off x="1141413" y="1849912"/>
            <a:ext cx="10632311" cy="2308324"/>
          </a:xfrm>
          <a:prstGeom prst="rect">
            <a:avLst/>
          </a:prstGeom>
        </p:spPr>
        <p:txBody>
          <a:bodyPr wrap="square">
            <a:spAutoFit/>
          </a:bodyPr>
          <a:lstStyle/>
          <a:p>
            <a:pPr algn="just"/>
            <a:r>
              <a:rPr lang="en-US" sz="1600" dirty="0">
                <a:solidFill>
                  <a:schemeClr val="bg1"/>
                </a:solidFill>
                <a:latin typeface="Söhne"/>
              </a:rPr>
              <a:t>   </a:t>
            </a:r>
            <a:r>
              <a:rPr lang="ru-RU" sz="1600" dirty="0">
                <a:solidFill>
                  <a:schemeClr val="bg1"/>
                </a:solidFill>
                <a:latin typeface="Söhne"/>
              </a:rPr>
              <a:t>The Caesar cipher is in fact a special case of another type of cipher, called an Affine cipher. </a:t>
            </a:r>
            <a:r>
              <a:rPr lang="ru-RU" sz="1600" dirty="0" err="1">
                <a:solidFill>
                  <a:schemeClr val="bg1"/>
                </a:solidFill>
                <a:latin typeface="Söhne"/>
              </a:rPr>
              <a:t>With</a:t>
            </a:r>
            <a:r>
              <a:rPr lang="ru-RU" sz="1600" dirty="0">
                <a:solidFill>
                  <a:schemeClr val="bg1"/>
                </a:solidFill>
                <a:latin typeface="Söhne"/>
              </a:rPr>
              <a:t> </a:t>
            </a:r>
            <a:r>
              <a:rPr lang="ru-RU" sz="1600" dirty="0" err="1">
                <a:solidFill>
                  <a:schemeClr val="bg1"/>
                </a:solidFill>
                <a:latin typeface="Söhne"/>
              </a:rPr>
              <a:t>this</a:t>
            </a:r>
            <a:r>
              <a:rPr lang="ru-RU" sz="1600" dirty="0">
                <a:solidFill>
                  <a:schemeClr val="bg1"/>
                </a:solidFill>
                <a:latin typeface="Söhne"/>
              </a:rPr>
              <a:t> </a:t>
            </a:r>
            <a:r>
              <a:rPr lang="ru-RU" sz="1600" dirty="0" err="1">
                <a:solidFill>
                  <a:schemeClr val="bg1"/>
                </a:solidFill>
                <a:latin typeface="Söhne"/>
              </a:rPr>
              <a:t>cipher</a:t>
            </a:r>
            <a:r>
              <a:rPr lang="ru-RU" sz="1600" dirty="0">
                <a:solidFill>
                  <a:schemeClr val="bg1"/>
                </a:solidFill>
                <a:latin typeface="Söhne"/>
              </a:rPr>
              <a:t>, </a:t>
            </a:r>
            <a:r>
              <a:rPr lang="ru-RU" sz="1600" dirty="0" err="1">
                <a:solidFill>
                  <a:schemeClr val="bg1"/>
                </a:solidFill>
                <a:latin typeface="Söhne"/>
              </a:rPr>
              <a:t>the</a:t>
            </a:r>
            <a:r>
              <a:rPr lang="ru-RU" sz="1600" dirty="0">
                <a:solidFill>
                  <a:schemeClr val="bg1"/>
                </a:solidFill>
                <a:latin typeface="Söhne"/>
              </a:rPr>
              <a:t> </a:t>
            </a:r>
            <a:r>
              <a:rPr lang="ru-RU" sz="1600" dirty="0" err="1">
                <a:solidFill>
                  <a:schemeClr val="bg1"/>
                </a:solidFill>
                <a:latin typeface="Söhne"/>
              </a:rPr>
              <a:t>key</a:t>
            </a:r>
            <a:r>
              <a:rPr lang="ru-RU" sz="1600" dirty="0">
                <a:solidFill>
                  <a:schemeClr val="bg1"/>
                </a:solidFill>
                <a:latin typeface="Söhne"/>
              </a:rPr>
              <a:t> </a:t>
            </a:r>
            <a:r>
              <a:rPr lang="ru-RU" sz="1600" dirty="0" err="1">
                <a:solidFill>
                  <a:schemeClr val="bg1"/>
                </a:solidFill>
                <a:latin typeface="Söhne"/>
              </a:rPr>
              <a:t>consists</a:t>
            </a:r>
            <a:r>
              <a:rPr lang="ru-RU" sz="1600" dirty="0">
                <a:solidFill>
                  <a:schemeClr val="bg1"/>
                </a:solidFill>
                <a:latin typeface="Söhne"/>
              </a:rPr>
              <a:t> </a:t>
            </a:r>
            <a:r>
              <a:rPr lang="ru-RU" sz="1600" dirty="0" err="1">
                <a:solidFill>
                  <a:schemeClr val="bg1"/>
                </a:solidFill>
                <a:latin typeface="Söhne"/>
              </a:rPr>
              <a:t>of</a:t>
            </a:r>
            <a:r>
              <a:rPr lang="ru-RU" sz="1600" dirty="0">
                <a:solidFill>
                  <a:schemeClr val="bg1"/>
                </a:solidFill>
                <a:latin typeface="Söhne"/>
              </a:rPr>
              <a:t> </a:t>
            </a:r>
            <a:r>
              <a:rPr lang="ru-RU" sz="1600" dirty="0" err="1">
                <a:solidFill>
                  <a:schemeClr val="bg1"/>
                </a:solidFill>
                <a:latin typeface="Söhne"/>
              </a:rPr>
              <a:t>two</a:t>
            </a:r>
            <a:r>
              <a:rPr lang="ru-RU" sz="1600" dirty="0">
                <a:solidFill>
                  <a:schemeClr val="bg1"/>
                </a:solidFill>
                <a:latin typeface="Söhne"/>
              </a:rPr>
              <a:t> </a:t>
            </a:r>
            <a:r>
              <a:rPr lang="ru-RU" sz="1600" dirty="0" err="1">
                <a:solidFill>
                  <a:schemeClr val="bg1"/>
                </a:solidFill>
                <a:latin typeface="Söhne"/>
              </a:rPr>
              <a:t>numbers</a:t>
            </a:r>
            <a:r>
              <a:rPr lang="ru-RU" sz="1600" dirty="0">
                <a:solidFill>
                  <a:schemeClr val="bg1"/>
                </a:solidFill>
                <a:latin typeface="Söhne"/>
              </a:rPr>
              <a:t>, </a:t>
            </a:r>
            <a:r>
              <a:rPr lang="ru-RU" sz="1600" dirty="0" err="1">
                <a:solidFill>
                  <a:schemeClr val="bg1"/>
                </a:solidFill>
                <a:latin typeface="Söhne"/>
              </a:rPr>
              <a:t>say</a:t>
            </a:r>
            <a:r>
              <a:rPr lang="ru-RU" sz="1600" dirty="0">
                <a:solidFill>
                  <a:schemeClr val="bg1"/>
                </a:solidFill>
                <a:latin typeface="Söhne"/>
              </a:rPr>
              <a:t> a </a:t>
            </a:r>
            <a:r>
              <a:rPr lang="ru-RU" sz="1600" dirty="0" err="1">
                <a:solidFill>
                  <a:schemeClr val="bg1"/>
                </a:solidFill>
                <a:latin typeface="Söhne"/>
              </a:rPr>
              <a:t>and</a:t>
            </a:r>
            <a:r>
              <a:rPr lang="ru-RU" sz="1600" dirty="0">
                <a:solidFill>
                  <a:schemeClr val="bg1"/>
                </a:solidFill>
                <a:latin typeface="Söhne"/>
              </a:rPr>
              <a:t> b. </a:t>
            </a:r>
            <a:r>
              <a:rPr lang="ru-RU" sz="1600" dirty="0" err="1">
                <a:solidFill>
                  <a:schemeClr val="bg1"/>
                </a:solidFill>
                <a:latin typeface="Söhne"/>
              </a:rPr>
              <a:t>To</a:t>
            </a:r>
            <a:r>
              <a:rPr lang="ru-RU" sz="1600" dirty="0">
                <a:solidFill>
                  <a:schemeClr val="bg1"/>
                </a:solidFill>
                <a:latin typeface="Söhne"/>
              </a:rPr>
              <a:t> </a:t>
            </a:r>
            <a:r>
              <a:rPr lang="ru-RU" sz="1600" dirty="0" err="1">
                <a:solidFill>
                  <a:schemeClr val="bg1"/>
                </a:solidFill>
                <a:latin typeface="Söhne"/>
              </a:rPr>
              <a:t>be</a:t>
            </a:r>
            <a:r>
              <a:rPr lang="ru-RU" sz="1600" dirty="0">
                <a:solidFill>
                  <a:schemeClr val="bg1"/>
                </a:solidFill>
                <a:latin typeface="Söhne"/>
              </a:rPr>
              <a:t> a </a:t>
            </a:r>
            <a:r>
              <a:rPr lang="ru-RU" sz="1600" dirty="0" err="1">
                <a:solidFill>
                  <a:schemeClr val="bg1"/>
                </a:solidFill>
                <a:latin typeface="Söhne"/>
              </a:rPr>
              <a:t>valid</a:t>
            </a:r>
            <a:r>
              <a:rPr lang="ru-RU" sz="1600" dirty="0">
                <a:solidFill>
                  <a:schemeClr val="bg1"/>
                </a:solidFill>
                <a:latin typeface="Söhne"/>
              </a:rPr>
              <a:t> </a:t>
            </a:r>
            <a:r>
              <a:rPr lang="ru-RU" sz="1600" dirty="0" err="1">
                <a:solidFill>
                  <a:schemeClr val="bg1"/>
                </a:solidFill>
                <a:latin typeface="Söhne"/>
              </a:rPr>
              <a:t>key</a:t>
            </a:r>
            <a:r>
              <a:rPr lang="ru-RU" sz="1600" dirty="0">
                <a:solidFill>
                  <a:schemeClr val="bg1"/>
                </a:solidFill>
                <a:latin typeface="Söhne"/>
              </a:rPr>
              <a:t>, </a:t>
            </a:r>
            <a:r>
              <a:rPr lang="ru-RU" sz="1600" dirty="0" err="1">
                <a:solidFill>
                  <a:schemeClr val="bg1"/>
                </a:solidFill>
                <a:latin typeface="Söhne"/>
              </a:rPr>
              <a:t>the</a:t>
            </a:r>
            <a:r>
              <a:rPr lang="ru-RU" sz="1600" dirty="0">
                <a:solidFill>
                  <a:schemeClr val="bg1"/>
                </a:solidFill>
                <a:latin typeface="Söhne"/>
              </a:rPr>
              <a:t> </a:t>
            </a:r>
            <a:r>
              <a:rPr lang="ru-RU" sz="1600" dirty="0" err="1">
                <a:solidFill>
                  <a:schemeClr val="bg1"/>
                </a:solidFill>
                <a:latin typeface="Söhne"/>
              </a:rPr>
              <a:t>value</a:t>
            </a:r>
            <a:r>
              <a:rPr lang="ru-RU" sz="1600" dirty="0">
                <a:solidFill>
                  <a:schemeClr val="bg1"/>
                </a:solidFill>
                <a:latin typeface="Söhne"/>
              </a:rPr>
              <a:t> a </a:t>
            </a:r>
            <a:r>
              <a:rPr lang="ru-RU" sz="1600" dirty="0" err="1">
                <a:solidFill>
                  <a:schemeClr val="bg1"/>
                </a:solidFill>
                <a:latin typeface="Söhne"/>
              </a:rPr>
              <a:t>must</a:t>
            </a:r>
            <a:r>
              <a:rPr lang="ru-RU" sz="1600" dirty="0">
                <a:solidFill>
                  <a:schemeClr val="bg1"/>
                </a:solidFill>
                <a:latin typeface="Söhne"/>
              </a:rPr>
              <a:t> </a:t>
            </a:r>
            <a:r>
              <a:rPr lang="ru-RU" sz="1600" dirty="0" err="1">
                <a:solidFill>
                  <a:schemeClr val="bg1"/>
                </a:solidFill>
                <a:latin typeface="Söhne"/>
              </a:rPr>
              <a:t>have</a:t>
            </a:r>
            <a:r>
              <a:rPr lang="ru-RU" sz="1600" dirty="0">
                <a:solidFill>
                  <a:schemeClr val="bg1"/>
                </a:solidFill>
                <a:latin typeface="Söhne"/>
              </a:rPr>
              <a:t> a </a:t>
            </a:r>
            <a:r>
              <a:rPr lang="ru-RU" sz="1600" dirty="0" err="1">
                <a:solidFill>
                  <a:schemeClr val="bg1"/>
                </a:solidFill>
                <a:latin typeface="Söhne"/>
              </a:rPr>
              <a:t>multiplicative</a:t>
            </a:r>
            <a:r>
              <a:rPr lang="ru-RU" sz="1600" dirty="0">
                <a:solidFill>
                  <a:schemeClr val="bg1"/>
                </a:solidFill>
                <a:latin typeface="Söhne"/>
              </a:rPr>
              <a:t> </a:t>
            </a:r>
            <a:r>
              <a:rPr lang="ru-RU" sz="1600" dirty="0" err="1">
                <a:solidFill>
                  <a:schemeClr val="bg1"/>
                </a:solidFill>
                <a:latin typeface="Söhne"/>
              </a:rPr>
              <a:t>inverse</a:t>
            </a:r>
            <a:r>
              <a:rPr lang="ru-RU" sz="1600" dirty="0">
                <a:solidFill>
                  <a:schemeClr val="bg1"/>
                </a:solidFill>
                <a:latin typeface="Söhne"/>
              </a:rPr>
              <a:t> </a:t>
            </a:r>
            <a:r>
              <a:rPr lang="ru-RU" sz="1600" dirty="0" err="1">
                <a:solidFill>
                  <a:schemeClr val="bg1"/>
                </a:solidFill>
                <a:latin typeface="Söhne"/>
              </a:rPr>
              <a:t>modulo</a:t>
            </a:r>
            <a:r>
              <a:rPr lang="ru-RU" sz="1600" dirty="0">
                <a:solidFill>
                  <a:schemeClr val="bg1"/>
                </a:solidFill>
                <a:latin typeface="Söhne"/>
              </a:rPr>
              <a:t> 26, </a:t>
            </a:r>
            <a:r>
              <a:rPr lang="ru-RU" sz="1600" dirty="0" err="1">
                <a:solidFill>
                  <a:schemeClr val="bg1"/>
                </a:solidFill>
                <a:latin typeface="Söhne"/>
              </a:rPr>
              <a:t>and</a:t>
            </a:r>
            <a:r>
              <a:rPr lang="ru-RU" sz="1600" dirty="0">
                <a:solidFill>
                  <a:schemeClr val="bg1"/>
                </a:solidFill>
                <a:latin typeface="Söhne"/>
              </a:rPr>
              <a:t> b </a:t>
            </a:r>
            <a:r>
              <a:rPr lang="ru-RU" sz="1600" dirty="0" err="1">
                <a:solidFill>
                  <a:schemeClr val="bg1"/>
                </a:solidFill>
                <a:latin typeface="Söhne"/>
              </a:rPr>
              <a:t>can</a:t>
            </a:r>
            <a:r>
              <a:rPr lang="ru-RU" sz="1600" dirty="0">
                <a:solidFill>
                  <a:schemeClr val="bg1"/>
                </a:solidFill>
                <a:latin typeface="Söhne"/>
              </a:rPr>
              <a:t> </a:t>
            </a:r>
            <a:r>
              <a:rPr lang="ru-RU" sz="1600" dirty="0" err="1">
                <a:solidFill>
                  <a:schemeClr val="bg1"/>
                </a:solidFill>
                <a:latin typeface="Söhne"/>
              </a:rPr>
              <a:t>be</a:t>
            </a:r>
            <a:r>
              <a:rPr lang="ru-RU" sz="1600" dirty="0">
                <a:solidFill>
                  <a:schemeClr val="bg1"/>
                </a:solidFill>
                <a:latin typeface="Söhne"/>
              </a:rPr>
              <a:t> </a:t>
            </a:r>
            <a:r>
              <a:rPr lang="ru-RU" sz="1600" dirty="0" err="1">
                <a:solidFill>
                  <a:schemeClr val="bg1"/>
                </a:solidFill>
                <a:latin typeface="Söhne"/>
              </a:rPr>
              <a:t>any</a:t>
            </a:r>
            <a:r>
              <a:rPr lang="ru-RU" sz="1600" dirty="0">
                <a:solidFill>
                  <a:schemeClr val="bg1"/>
                </a:solidFill>
                <a:latin typeface="Söhne"/>
              </a:rPr>
              <a:t> </a:t>
            </a:r>
            <a:r>
              <a:rPr lang="ru-RU" sz="1600" dirty="0" err="1">
                <a:solidFill>
                  <a:schemeClr val="bg1"/>
                </a:solidFill>
                <a:latin typeface="Söhne"/>
              </a:rPr>
              <a:t>integer</a:t>
            </a:r>
            <a:r>
              <a:rPr lang="ru-RU" sz="1600" dirty="0">
                <a:solidFill>
                  <a:schemeClr val="bg1"/>
                </a:solidFill>
                <a:latin typeface="Söhne"/>
              </a:rPr>
              <a:t> </a:t>
            </a:r>
            <a:r>
              <a:rPr lang="ru-RU" sz="1600" dirty="0" err="1">
                <a:solidFill>
                  <a:schemeClr val="bg1"/>
                </a:solidFill>
                <a:latin typeface="Söhne"/>
              </a:rPr>
              <a:t>modulo</a:t>
            </a:r>
            <a:r>
              <a:rPr lang="ru-RU" sz="1600" dirty="0">
                <a:solidFill>
                  <a:schemeClr val="bg1"/>
                </a:solidFill>
                <a:latin typeface="Söhne"/>
              </a:rPr>
              <a:t> 26. </a:t>
            </a:r>
            <a:endParaRPr lang="en-US" sz="1600" dirty="0">
              <a:solidFill>
                <a:schemeClr val="bg1"/>
              </a:solidFill>
              <a:latin typeface="Söhne"/>
            </a:endParaRPr>
          </a:p>
          <a:p>
            <a:pPr algn="just"/>
            <a:r>
              <a:rPr lang="ru-RU" sz="1600" dirty="0" err="1">
                <a:solidFill>
                  <a:schemeClr val="bg1"/>
                </a:solidFill>
                <a:latin typeface="Söhne"/>
              </a:rPr>
              <a:t>Then</a:t>
            </a:r>
            <a:r>
              <a:rPr lang="ru-RU" sz="1600" dirty="0">
                <a:solidFill>
                  <a:schemeClr val="bg1"/>
                </a:solidFill>
                <a:latin typeface="Söhne"/>
              </a:rPr>
              <a:t> </a:t>
            </a:r>
            <a:r>
              <a:rPr lang="ru-RU" sz="1600" dirty="0" err="1">
                <a:solidFill>
                  <a:schemeClr val="bg1"/>
                </a:solidFill>
                <a:latin typeface="Söhne"/>
              </a:rPr>
              <a:t>the</a:t>
            </a:r>
            <a:r>
              <a:rPr lang="ru-RU" sz="1600" dirty="0">
                <a:solidFill>
                  <a:schemeClr val="bg1"/>
                </a:solidFill>
                <a:latin typeface="Söhne"/>
              </a:rPr>
              <a:t> </a:t>
            </a:r>
            <a:r>
              <a:rPr lang="ru-RU" sz="1600" dirty="0" err="1">
                <a:solidFill>
                  <a:schemeClr val="bg1"/>
                </a:solidFill>
                <a:latin typeface="Söhne"/>
              </a:rPr>
              <a:t>Affine</a:t>
            </a:r>
            <a:r>
              <a:rPr lang="ru-RU" sz="1600" dirty="0">
                <a:solidFill>
                  <a:schemeClr val="bg1"/>
                </a:solidFill>
                <a:latin typeface="Söhne"/>
              </a:rPr>
              <a:t> </a:t>
            </a:r>
            <a:r>
              <a:rPr lang="ru-RU" sz="1600" dirty="0" err="1">
                <a:solidFill>
                  <a:schemeClr val="bg1"/>
                </a:solidFill>
                <a:latin typeface="Söhne"/>
              </a:rPr>
              <a:t>encryption</a:t>
            </a:r>
            <a:r>
              <a:rPr lang="ru-RU" sz="1600" dirty="0">
                <a:solidFill>
                  <a:schemeClr val="bg1"/>
                </a:solidFill>
                <a:latin typeface="Söhne"/>
              </a:rPr>
              <a:t> </a:t>
            </a:r>
            <a:r>
              <a:rPr lang="ru-RU" sz="1600" dirty="0" err="1">
                <a:solidFill>
                  <a:schemeClr val="bg1"/>
                </a:solidFill>
                <a:latin typeface="Söhne"/>
              </a:rPr>
              <a:t>function</a:t>
            </a:r>
            <a:r>
              <a:rPr lang="ru-RU" sz="1600" dirty="0">
                <a:solidFill>
                  <a:schemeClr val="bg1"/>
                </a:solidFill>
                <a:latin typeface="Söhne"/>
              </a:rPr>
              <a:t> A(x) (</a:t>
            </a:r>
            <a:r>
              <a:rPr lang="ru-RU" sz="1600" dirty="0" err="1">
                <a:solidFill>
                  <a:schemeClr val="bg1"/>
                </a:solidFill>
                <a:latin typeface="Söhne"/>
              </a:rPr>
              <a:t>to</a:t>
            </a:r>
            <a:r>
              <a:rPr lang="ru-RU" sz="1600" dirty="0">
                <a:solidFill>
                  <a:schemeClr val="bg1"/>
                </a:solidFill>
                <a:latin typeface="Söhne"/>
              </a:rPr>
              <a:t> </a:t>
            </a:r>
            <a:r>
              <a:rPr lang="ru-RU" sz="1600" dirty="0" err="1">
                <a:solidFill>
                  <a:schemeClr val="bg1"/>
                </a:solidFill>
                <a:latin typeface="Söhne"/>
              </a:rPr>
              <a:t>encrypt</a:t>
            </a:r>
            <a:r>
              <a:rPr lang="ru-RU" sz="1600" dirty="0">
                <a:solidFill>
                  <a:schemeClr val="bg1"/>
                </a:solidFill>
                <a:latin typeface="Söhne"/>
              </a:rPr>
              <a:t> a </a:t>
            </a:r>
            <a:r>
              <a:rPr lang="ru-RU" sz="1600" dirty="0" err="1">
                <a:solidFill>
                  <a:schemeClr val="bg1"/>
                </a:solidFill>
                <a:latin typeface="Söhne"/>
              </a:rPr>
              <a:t>plaintext</a:t>
            </a:r>
            <a:r>
              <a:rPr lang="ru-RU" sz="1600" dirty="0">
                <a:solidFill>
                  <a:schemeClr val="bg1"/>
                </a:solidFill>
                <a:latin typeface="Söhne"/>
              </a:rPr>
              <a:t> </a:t>
            </a:r>
            <a:r>
              <a:rPr lang="ru-RU" sz="1600" dirty="0" err="1">
                <a:solidFill>
                  <a:schemeClr val="bg1"/>
                </a:solidFill>
                <a:latin typeface="Söhne"/>
              </a:rPr>
              <a:t>letter</a:t>
            </a:r>
            <a:r>
              <a:rPr lang="ru-RU" sz="1600" dirty="0">
                <a:solidFill>
                  <a:schemeClr val="bg1"/>
                </a:solidFill>
                <a:latin typeface="Söhne"/>
              </a:rPr>
              <a:t> x) </a:t>
            </a:r>
            <a:r>
              <a:rPr lang="ru-RU" sz="1600" dirty="0" err="1">
                <a:solidFill>
                  <a:schemeClr val="bg1"/>
                </a:solidFill>
                <a:latin typeface="Söhne"/>
              </a:rPr>
              <a:t>is</a:t>
            </a:r>
            <a:r>
              <a:rPr lang="ru-RU" sz="1600" dirty="0">
                <a:solidFill>
                  <a:schemeClr val="bg1"/>
                </a:solidFill>
                <a:latin typeface="Söhne"/>
              </a:rPr>
              <a:t> </a:t>
            </a:r>
            <a:r>
              <a:rPr lang="ru-RU" sz="1600" dirty="0" err="1">
                <a:solidFill>
                  <a:schemeClr val="bg1"/>
                </a:solidFill>
                <a:latin typeface="Söhne"/>
              </a:rPr>
              <a:t>defined</a:t>
            </a:r>
            <a:r>
              <a:rPr lang="ru-RU" sz="1600" dirty="0">
                <a:solidFill>
                  <a:schemeClr val="bg1"/>
                </a:solidFill>
                <a:latin typeface="Söhne"/>
              </a:rPr>
              <a:t> </a:t>
            </a:r>
            <a:r>
              <a:rPr lang="ru-RU" sz="1600" dirty="0" err="1">
                <a:solidFill>
                  <a:schemeClr val="bg1"/>
                </a:solidFill>
                <a:latin typeface="Söhne"/>
              </a:rPr>
              <a:t>by</a:t>
            </a:r>
            <a:r>
              <a:rPr lang="ru-RU" sz="1600" dirty="0">
                <a:solidFill>
                  <a:schemeClr val="bg1"/>
                </a:solidFill>
                <a:latin typeface="Söhne"/>
              </a:rPr>
              <a:t>: </a:t>
            </a:r>
            <a:endParaRPr lang="en-US" sz="1600" dirty="0">
              <a:solidFill>
                <a:schemeClr val="bg1"/>
              </a:solidFill>
              <a:latin typeface="Söhne"/>
            </a:endParaRPr>
          </a:p>
          <a:p>
            <a:pPr algn="just"/>
            <a:endParaRPr lang="en-US" sz="1600" dirty="0">
              <a:solidFill>
                <a:schemeClr val="bg1"/>
              </a:solidFill>
              <a:latin typeface="Söhne"/>
            </a:endParaRPr>
          </a:p>
          <a:p>
            <a:pPr algn="just"/>
            <a:r>
              <a:rPr lang="ru-RU" sz="1600" dirty="0">
                <a:solidFill>
                  <a:schemeClr val="bg1"/>
                </a:solidFill>
                <a:latin typeface="Söhne"/>
              </a:rPr>
              <a:t>where x is the plaintext number to be encrypted. </a:t>
            </a:r>
            <a:endParaRPr lang="en-US" sz="1600" dirty="0">
              <a:solidFill>
                <a:schemeClr val="bg1"/>
              </a:solidFill>
              <a:latin typeface="Söhne"/>
            </a:endParaRPr>
          </a:p>
          <a:p>
            <a:pPr algn="just"/>
            <a:endParaRPr lang="en-US" sz="1600" dirty="0">
              <a:solidFill>
                <a:schemeClr val="bg1"/>
              </a:solidFill>
              <a:latin typeface="Söhne"/>
            </a:endParaRPr>
          </a:p>
          <a:p>
            <a:pPr algn="just"/>
            <a:r>
              <a:rPr lang="ru-RU" sz="1600" dirty="0" err="1">
                <a:solidFill>
                  <a:schemeClr val="bg1"/>
                </a:solidFill>
                <a:latin typeface="Söhne"/>
              </a:rPr>
              <a:t>Similarly</a:t>
            </a:r>
            <a:r>
              <a:rPr lang="ru-RU" sz="1600" dirty="0">
                <a:solidFill>
                  <a:schemeClr val="bg1"/>
                </a:solidFill>
                <a:latin typeface="Söhne"/>
              </a:rPr>
              <a:t>, </a:t>
            </a:r>
            <a:r>
              <a:rPr lang="ru-RU" sz="1600" dirty="0" err="1">
                <a:solidFill>
                  <a:schemeClr val="bg1"/>
                </a:solidFill>
                <a:latin typeface="Söhne"/>
              </a:rPr>
              <a:t>the</a:t>
            </a:r>
            <a:r>
              <a:rPr lang="ru-RU" sz="1600" dirty="0">
                <a:solidFill>
                  <a:schemeClr val="bg1"/>
                </a:solidFill>
                <a:latin typeface="Söhne"/>
              </a:rPr>
              <a:t> </a:t>
            </a:r>
            <a:r>
              <a:rPr lang="ru-RU" sz="1600" dirty="0" err="1">
                <a:solidFill>
                  <a:schemeClr val="bg1"/>
                </a:solidFill>
                <a:latin typeface="Söhne"/>
              </a:rPr>
              <a:t>decryption</a:t>
            </a:r>
            <a:r>
              <a:rPr lang="ru-RU" sz="1600" dirty="0">
                <a:solidFill>
                  <a:schemeClr val="bg1"/>
                </a:solidFill>
                <a:latin typeface="Söhne"/>
              </a:rPr>
              <a:t> </a:t>
            </a:r>
            <a:r>
              <a:rPr lang="ru-RU" sz="1600" dirty="0" err="1">
                <a:solidFill>
                  <a:schemeClr val="bg1"/>
                </a:solidFill>
                <a:latin typeface="Söhne"/>
              </a:rPr>
              <a:t>function</a:t>
            </a:r>
            <a:r>
              <a:rPr lang="ru-RU" sz="1600" dirty="0">
                <a:solidFill>
                  <a:schemeClr val="bg1"/>
                </a:solidFill>
                <a:latin typeface="Söhne"/>
              </a:rPr>
              <a:t> (</a:t>
            </a:r>
            <a:r>
              <a:rPr lang="ru-RU" sz="1600" dirty="0" err="1">
                <a:solidFill>
                  <a:schemeClr val="bg1"/>
                </a:solidFill>
                <a:latin typeface="Söhne"/>
              </a:rPr>
              <a:t>which</a:t>
            </a:r>
            <a:r>
              <a:rPr lang="ru-RU" sz="1600" dirty="0">
                <a:solidFill>
                  <a:schemeClr val="bg1"/>
                </a:solidFill>
                <a:latin typeface="Söhne"/>
              </a:rPr>
              <a:t> </a:t>
            </a:r>
            <a:r>
              <a:rPr lang="ru-RU" sz="1600" dirty="0" err="1">
                <a:solidFill>
                  <a:schemeClr val="bg1"/>
                </a:solidFill>
                <a:latin typeface="Söhne"/>
              </a:rPr>
              <a:t>operates</a:t>
            </a:r>
            <a:r>
              <a:rPr lang="ru-RU" sz="1600" dirty="0">
                <a:solidFill>
                  <a:schemeClr val="bg1"/>
                </a:solidFill>
                <a:latin typeface="Söhne"/>
              </a:rPr>
              <a:t> </a:t>
            </a:r>
            <a:r>
              <a:rPr lang="ru-RU" sz="1600" dirty="0" err="1">
                <a:solidFill>
                  <a:schemeClr val="bg1"/>
                </a:solidFill>
                <a:latin typeface="Söhne"/>
              </a:rPr>
              <a:t>on</a:t>
            </a:r>
            <a:r>
              <a:rPr lang="ru-RU" sz="1600" dirty="0">
                <a:solidFill>
                  <a:schemeClr val="bg1"/>
                </a:solidFill>
                <a:latin typeface="Söhne"/>
              </a:rPr>
              <a:t> </a:t>
            </a:r>
            <a:r>
              <a:rPr lang="ru-RU" sz="1600" dirty="0" err="1">
                <a:solidFill>
                  <a:schemeClr val="bg1"/>
                </a:solidFill>
                <a:latin typeface="Söhne"/>
              </a:rPr>
              <a:t>the</a:t>
            </a:r>
            <a:r>
              <a:rPr lang="ru-RU" sz="1600" dirty="0">
                <a:solidFill>
                  <a:schemeClr val="bg1"/>
                </a:solidFill>
                <a:latin typeface="Söhne"/>
              </a:rPr>
              <a:t> </a:t>
            </a:r>
            <a:r>
              <a:rPr lang="ru-RU" sz="1600" dirty="0" err="1">
                <a:solidFill>
                  <a:schemeClr val="bg1"/>
                </a:solidFill>
                <a:latin typeface="Söhne"/>
              </a:rPr>
              <a:t>ciphertext</a:t>
            </a:r>
            <a:r>
              <a:rPr lang="ru-RU" sz="1600" dirty="0">
                <a:solidFill>
                  <a:schemeClr val="bg1"/>
                </a:solidFill>
                <a:latin typeface="Söhne"/>
              </a:rPr>
              <a:t> </a:t>
            </a:r>
            <a:r>
              <a:rPr lang="ru-RU" sz="1600" dirty="0" err="1">
                <a:solidFill>
                  <a:schemeClr val="bg1"/>
                </a:solidFill>
                <a:latin typeface="Söhne"/>
              </a:rPr>
              <a:t>number</a:t>
            </a:r>
            <a:r>
              <a:rPr lang="ru-RU" sz="1600" dirty="0">
                <a:solidFill>
                  <a:schemeClr val="bg1"/>
                </a:solidFill>
                <a:latin typeface="Söhne"/>
              </a:rPr>
              <a:t> y) </a:t>
            </a:r>
            <a:r>
              <a:rPr lang="ru-RU" sz="1600" dirty="0" err="1">
                <a:solidFill>
                  <a:schemeClr val="bg1"/>
                </a:solidFill>
                <a:latin typeface="Söhne"/>
              </a:rPr>
              <a:t>is</a:t>
            </a:r>
            <a:r>
              <a:rPr lang="ru-RU" sz="1600" dirty="0">
                <a:solidFill>
                  <a:schemeClr val="bg1"/>
                </a:solidFill>
                <a:latin typeface="Söhne"/>
              </a:rPr>
              <a:t>: </a:t>
            </a:r>
            <a:endParaRPr lang="en-US" sz="1600" dirty="0">
              <a:solidFill>
                <a:schemeClr val="bg1"/>
              </a:solidFill>
              <a:latin typeface="Söhne"/>
            </a:endParaRPr>
          </a:p>
          <a:p>
            <a:pPr algn="just"/>
            <a:endParaRPr lang="en-US" sz="1600" dirty="0">
              <a:solidFill>
                <a:schemeClr val="bg1"/>
              </a:solidFill>
              <a:latin typeface="Söhne"/>
            </a:endParaRPr>
          </a:p>
        </p:txBody>
      </p:sp>
      <p:pic>
        <p:nvPicPr>
          <p:cNvPr id="5" name="Рисунок 5">
            <a:extLst>
              <a:ext uri="{FF2B5EF4-FFF2-40B4-BE49-F238E27FC236}">
                <a16:creationId xmlns:a16="http://schemas.microsoft.com/office/drawing/2014/main" id="{86ADEBB7-37E0-5CA4-ADF6-A650016B3F17}"/>
              </a:ext>
            </a:extLst>
          </p:cNvPr>
          <p:cNvPicPr>
            <a:picLocks noChangeAspect="1"/>
          </p:cNvPicPr>
          <p:nvPr/>
        </p:nvPicPr>
        <p:blipFill>
          <a:blip r:embed="rId3"/>
          <a:stretch>
            <a:fillRect/>
          </a:stretch>
        </p:blipFill>
        <p:spPr>
          <a:xfrm>
            <a:off x="8416127" y="2465324"/>
            <a:ext cx="3249828" cy="531340"/>
          </a:xfrm>
          <a:prstGeom prst="rect">
            <a:avLst/>
          </a:prstGeom>
        </p:spPr>
      </p:pic>
      <p:pic>
        <p:nvPicPr>
          <p:cNvPr id="6" name="Рисунок 4">
            <a:extLst>
              <a:ext uri="{FF2B5EF4-FFF2-40B4-BE49-F238E27FC236}">
                <a16:creationId xmlns:a16="http://schemas.microsoft.com/office/drawing/2014/main" id="{07FCBF77-054F-491B-FD30-159C90FBD6DC}"/>
              </a:ext>
            </a:extLst>
          </p:cNvPr>
          <p:cNvPicPr>
            <a:picLocks noChangeAspect="1"/>
          </p:cNvPicPr>
          <p:nvPr/>
        </p:nvPicPr>
        <p:blipFill>
          <a:blip r:embed="rId4"/>
          <a:stretch>
            <a:fillRect/>
          </a:stretch>
        </p:blipFill>
        <p:spPr>
          <a:xfrm>
            <a:off x="8171056" y="3349892"/>
            <a:ext cx="3739969" cy="573542"/>
          </a:xfrm>
          <a:prstGeom prst="rect">
            <a:avLst/>
          </a:prstGeom>
        </p:spPr>
      </p:pic>
      <p:sp>
        <p:nvSpPr>
          <p:cNvPr id="8" name="TextBox 7">
            <a:extLst>
              <a:ext uri="{FF2B5EF4-FFF2-40B4-BE49-F238E27FC236}">
                <a16:creationId xmlns:a16="http://schemas.microsoft.com/office/drawing/2014/main" id="{99D693D9-EA17-6C26-CA6E-DB5B40345B7F}"/>
              </a:ext>
            </a:extLst>
          </p:cNvPr>
          <p:cNvSpPr txBox="1"/>
          <p:nvPr/>
        </p:nvSpPr>
        <p:spPr>
          <a:xfrm>
            <a:off x="1141413" y="4056097"/>
            <a:ext cx="6106884" cy="369332"/>
          </a:xfrm>
          <a:prstGeom prst="rect">
            <a:avLst/>
          </a:prstGeom>
          <a:noFill/>
        </p:spPr>
        <p:txBody>
          <a:bodyPr wrap="square">
            <a:spAutoFit/>
          </a:bodyPr>
          <a:lstStyle/>
          <a:p>
            <a:r>
              <a:rPr lang="ru-RU" dirty="0">
                <a:solidFill>
                  <a:schemeClr val="bg1"/>
                </a:solidFill>
              </a:rPr>
              <a:t>where a</a:t>
            </a:r>
            <a:r>
              <a:rPr lang="en-US" dirty="0">
                <a:solidFill>
                  <a:schemeClr val="bg1"/>
                </a:solidFill>
              </a:rPr>
              <a:t>^</a:t>
            </a:r>
            <a:r>
              <a:rPr lang="ru-RU" dirty="0">
                <a:solidFill>
                  <a:schemeClr val="bg1"/>
                </a:solidFill>
              </a:rPr>
              <a:t>−1 is the multiplicative inverse of a, modulo 26</a:t>
            </a:r>
            <a:endParaRPr lang="en-US" dirty="0">
              <a:solidFill>
                <a:schemeClr val="bg1"/>
              </a:solidFill>
            </a:endParaRPr>
          </a:p>
        </p:txBody>
      </p:sp>
    </p:spTree>
    <p:extLst>
      <p:ext uri="{BB962C8B-B14F-4D97-AF65-F5344CB8AC3E}">
        <p14:creationId xmlns:p14="http://schemas.microsoft.com/office/powerpoint/2010/main" val="2385877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AD76367-798F-C92B-7051-C93605FC25FC}"/>
              </a:ext>
            </a:extLst>
          </p:cNvPr>
          <p:cNvSpPr>
            <a:spLocks noGrp="1"/>
          </p:cNvSpPr>
          <p:nvPr>
            <p:ph type="title"/>
          </p:nvPr>
        </p:nvSpPr>
        <p:spPr>
          <a:xfrm>
            <a:off x="1216058" y="531845"/>
            <a:ext cx="9906000" cy="986745"/>
          </a:xfrm>
        </p:spPr>
        <p:txBody>
          <a:bodyPr>
            <a:normAutofit fontScale="90000"/>
          </a:bodyPr>
          <a:lstStyle/>
          <a:p>
            <a:br>
              <a:rPr lang="en-US" dirty="0"/>
            </a:br>
            <a:r>
              <a:rPr lang="en-US" dirty="0">
                <a:solidFill>
                  <a:schemeClr val="bg1"/>
                </a:solidFill>
              </a:rPr>
              <a:t>The Affine cipher</a:t>
            </a:r>
          </a:p>
        </p:txBody>
      </p:sp>
      <p:sp>
        <p:nvSpPr>
          <p:cNvPr id="8" name="TextBox 7">
            <a:extLst>
              <a:ext uri="{FF2B5EF4-FFF2-40B4-BE49-F238E27FC236}">
                <a16:creationId xmlns:a16="http://schemas.microsoft.com/office/drawing/2014/main" id="{796B9B45-DFDC-7F2D-5859-9BF3B8B2475E}"/>
              </a:ext>
            </a:extLst>
          </p:cNvPr>
          <p:cNvSpPr txBox="1"/>
          <p:nvPr/>
        </p:nvSpPr>
        <p:spPr>
          <a:xfrm>
            <a:off x="785295" y="1861687"/>
            <a:ext cx="10618236" cy="2862322"/>
          </a:xfrm>
          <a:prstGeom prst="rect">
            <a:avLst/>
          </a:prstGeom>
          <a:noFill/>
        </p:spPr>
        <p:txBody>
          <a:bodyPr wrap="square">
            <a:spAutoFit/>
          </a:bodyPr>
          <a:lstStyle/>
          <a:p>
            <a:pPr algn="just"/>
            <a:r>
              <a:rPr lang="ru-RU" sz="1800" dirty="0">
                <a:solidFill>
                  <a:schemeClr val="bg1"/>
                </a:solidFill>
              </a:rPr>
              <a:t>Example</a:t>
            </a:r>
            <a:r>
              <a:rPr lang="en-US" sz="1800" dirty="0">
                <a:solidFill>
                  <a:schemeClr val="bg1"/>
                </a:solidFill>
              </a:rPr>
              <a:t>:</a:t>
            </a:r>
            <a:r>
              <a:rPr lang="ru-RU" sz="1800" dirty="0">
                <a:solidFill>
                  <a:schemeClr val="bg1"/>
                </a:solidFill>
              </a:rPr>
              <a:t> We</a:t>
            </a:r>
            <a:r>
              <a:rPr lang="en-US" sz="1800" dirty="0">
                <a:solidFill>
                  <a:schemeClr val="bg1"/>
                </a:solidFill>
              </a:rPr>
              <a:t> </a:t>
            </a:r>
            <a:r>
              <a:rPr lang="ru-RU" sz="1800" dirty="0">
                <a:solidFill>
                  <a:schemeClr val="bg1"/>
                </a:solidFill>
              </a:rPr>
              <a:t>can encrypt Julius Caesar’s famous saying “Veni, Vidi, Vici” using an Affine cipher </a:t>
            </a:r>
            <a:endParaRPr lang="en-US" sz="1800" dirty="0">
              <a:solidFill>
                <a:schemeClr val="bg1"/>
              </a:solidFill>
            </a:endParaRPr>
          </a:p>
          <a:p>
            <a:pPr algn="just"/>
            <a:r>
              <a:rPr lang="ru-RU" sz="1800" dirty="0">
                <a:solidFill>
                  <a:schemeClr val="bg1"/>
                </a:solidFill>
              </a:rPr>
              <a:t>with a key of (a,b) = (5, 17) as follows: </a:t>
            </a:r>
            <a:endParaRPr lang="en-US" sz="1800" dirty="0">
              <a:solidFill>
                <a:schemeClr val="bg1"/>
              </a:solidFill>
            </a:endParaRPr>
          </a:p>
          <a:p>
            <a:pPr algn="just"/>
            <a:r>
              <a:rPr lang="ru-RU" sz="1800" dirty="0">
                <a:solidFill>
                  <a:schemeClr val="bg1"/>
                </a:solidFill>
              </a:rPr>
              <a:t>• Re-write the text to be enciphered to just use lower-case English characters. This is the plaintext: venividivici. </a:t>
            </a:r>
            <a:endParaRPr lang="en-US" sz="1800" dirty="0">
              <a:solidFill>
                <a:schemeClr val="bg1"/>
              </a:solidFill>
            </a:endParaRPr>
          </a:p>
          <a:p>
            <a:pPr algn="just"/>
            <a:r>
              <a:rPr lang="ru-RU" sz="1800" dirty="0">
                <a:solidFill>
                  <a:schemeClr val="bg1"/>
                </a:solidFill>
              </a:rPr>
              <a:t>• Convert the plaintext to corresponding numbers: 21 4 13 8 21 8 3 8 21 8 2 8 </a:t>
            </a:r>
            <a:endParaRPr lang="en-US" sz="1800" dirty="0">
              <a:solidFill>
                <a:schemeClr val="bg1"/>
              </a:solidFill>
            </a:endParaRPr>
          </a:p>
          <a:p>
            <a:pPr algn="just"/>
            <a:r>
              <a:rPr lang="ru-RU" sz="1800" dirty="0">
                <a:solidFill>
                  <a:schemeClr val="bg1"/>
                </a:solidFill>
              </a:rPr>
              <a:t>• For each number in the plaintext, multiply it by a = 5, then add b = 17, and finally take the answer modulo 26. For example, to encrypt the plaintext letter ‘v’, which corresponds to 21, the calculation is: (5 ×21+17) mod 26 = 122 mod 26 ≡ 18. </a:t>
            </a:r>
            <a:endParaRPr lang="en-US" sz="1800" dirty="0">
              <a:solidFill>
                <a:schemeClr val="bg1"/>
              </a:solidFill>
            </a:endParaRPr>
          </a:p>
          <a:p>
            <a:pPr algn="just"/>
            <a:r>
              <a:rPr lang="ru-RU" sz="1800" dirty="0">
                <a:solidFill>
                  <a:schemeClr val="bg1"/>
                </a:solidFill>
              </a:rPr>
              <a:t>Thus the encryption of 21 is 18, so the encryption of the letter ‘v’ is the letter ‘s’. </a:t>
            </a:r>
            <a:endParaRPr lang="en-US" sz="1800" dirty="0">
              <a:solidFill>
                <a:schemeClr val="bg1"/>
              </a:solidFill>
            </a:endParaRPr>
          </a:p>
          <a:p>
            <a:pPr algn="just"/>
            <a:r>
              <a:rPr lang="ru-RU" sz="1800" dirty="0">
                <a:solidFill>
                  <a:schemeClr val="bg1"/>
                </a:solidFill>
              </a:rPr>
              <a:t>Following through for each letter in turn gives the following ciphertext: slefsfgfsfbf. Once again, we do not re-insert spaces, punctuation or capitals into the ciphertext.</a:t>
            </a:r>
          </a:p>
        </p:txBody>
      </p:sp>
    </p:spTree>
    <p:extLst>
      <p:ext uri="{BB962C8B-B14F-4D97-AF65-F5344CB8AC3E}">
        <p14:creationId xmlns:p14="http://schemas.microsoft.com/office/powerpoint/2010/main" val="1966015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A6876-84E4-C5DC-A378-D2E0083CE2D5}"/>
              </a:ext>
            </a:extLst>
          </p:cNvPr>
          <p:cNvSpPr>
            <a:spLocks noGrp="1"/>
          </p:cNvSpPr>
          <p:nvPr>
            <p:ph type="title"/>
          </p:nvPr>
        </p:nvSpPr>
        <p:spPr/>
        <p:txBody>
          <a:bodyPr/>
          <a:lstStyle/>
          <a:p>
            <a:r>
              <a:rPr lang="en-US" dirty="0"/>
              <a:t>Assignment 1.2</a:t>
            </a:r>
            <a:br>
              <a:rPr lang="en-US" dirty="0"/>
            </a:br>
            <a:r>
              <a:rPr lang="en-US" dirty="0">
                <a:solidFill>
                  <a:schemeClr val="bg1"/>
                </a:solidFill>
              </a:rPr>
              <a:t>Affine Cipher</a:t>
            </a:r>
          </a:p>
        </p:txBody>
      </p:sp>
      <p:pic>
        <p:nvPicPr>
          <p:cNvPr id="4" name="Рисунок 4">
            <a:extLst>
              <a:ext uri="{FF2B5EF4-FFF2-40B4-BE49-F238E27FC236}">
                <a16:creationId xmlns:a16="http://schemas.microsoft.com/office/drawing/2014/main" id="{CAC03E01-194C-C470-0F70-974D45C6AB71}"/>
              </a:ext>
            </a:extLst>
          </p:cNvPr>
          <p:cNvPicPr>
            <a:picLocks noGrp="1" noChangeAspect="1"/>
          </p:cNvPicPr>
          <p:nvPr>
            <p:ph idx="1"/>
          </p:nvPr>
        </p:nvPicPr>
        <p:blipFill>
          <a:blip r:embed="rId2"/>
          <a:stretch>
            <a:fillRect/>
          </a:stretch>
        </p:blipFill>
        <p:spPr>
          <a:xfrm>
            <a:off x="1289958" y="3262176"/>
            <a:ext cx="7978831" cy="624894"/>
          </a:xfrm>
          <a:prstGeom prst="rect">
            <a:avLst/>
          </a:prstGeom>
        </p:spPr>
      </p:pic>
      <p:sp>
        <p:nvSpPr>
          <p:cNvPr id="6" name="TextBox 5">
            <a:extLst>
              <a:ext uri="{FF2B5EF4-FFF2-40B4-BE49-F238E27FC236}">
                <a16:creationId xmlns:a16="http://schemas.microsoft.com/office/drawing/2014/main" id="{AAF80A42-FB82-FF37-A0EB-65A60C4B3B2C}"/>
              </a:ext>
            </a:extLst>
          </p:cNvPr>
          <p:cNvSpPr txBox="1"/>
          <p:nvPr/>
        </p:nvSpPr>
        <p:spPr>
          <a:xfrm>
            <a:off x="1289958" y="2217967"/>
            <a:ext cx="8731120" cy="923330"/>
          </a:xfrm>
          <a:prstGeom prst="rect">
            <a:avLst/>
          </a:prstGeom>
          <a:noFill/>
        </p:spPr>
        <p:txBody>
          <a:bodyPr wrap="square">
            <a:spAutoFit/>
          </a:bodyPr>
          <a:lstStyle/>
          <a:p>
            <a:r>
              <a:rPr lang="en-US" sz="1800" dirty="0">
                <a:solidFill>
                  <a:schemeClr val="bg1"/>
                </a:solidFill>
              </a:rPr>
              <a:t>Task: E</a:t>
            </a:r>
            <a:r>
              <a:rPr lang="ru-RU" sz="1800" dirty="0">
                <a:solidFill>
                  <a:schemeClr val="bg1"/>
                </a:solidFill>
              </a:rPr>
              <a:t>ncrypt </a:t>
            </a:r>
            <a:r>
              <a:rPr lang="en-US" sz="1800" dirty="0">
                <a:solidFill>
                  <a:schemeClr val="bg1"/>
                </a:solidFill>
              </a:rPr>
              <a:t>and</a:t>
            </a:r>
            <a:r>
              <a:rPr lang="ru-RU" sz="1800" dirty="0">
                <a:solidFill>
                  <a:schemeClr val="bg1"/>
                </a:solidFill>
              </a:rPr>
              <a:t> decrypt </a:t>
            </a:r>
            <a:r>
              <a:rPr lang="en-US" sz="1800" dirty="0">
                <a:solidFill>
                  <a:schemeClr val="bg1"/>
                </a:solidFill>
              </a:rPr>
              <a:t>the </a:t>
            </a:r>
            <a:r>
              <a:rPr lang="ru-RU" sz="1800" dirty="0">
                <a:solidFill>
                  <a:schemeClr val="bg1"/>
                </a:solidFill>
              </a:rPr>
              <a:t>text</a:t>
            </a:r>
            <a:r>
              <a:rPr lang="en-US" sz="1800" dirty="0">
                <a:solidFill>
                  <a:schemeClr val="bg1"/>
                </a:solidFill>
              </a:rPr>
              <a:t> (use your name)</a:t>
            </a:r>
            <a:r>
              <a:rPr lang="ru-RU" sz="1800" dirty="0">
                <a:solidFill>
                  <a:schemeClr val="bg1"/>
                </a:solidFill>
              </a:rPr>
              <a:t> using the </a:t>
            </a:r>
            <a:r>
              <a:rPr lang="en-US" sz="1800" b="1" dirty="0">
                <a:solidFill>
                  <a:schemeClr val="bg1"/>
                </a:solidFill>
              </a:rPr>
              <a:t>Affine Cipher </a:t>
            </a:r>
          </a:p>
          <a:p>
            <a:r>
              <a:rPr lang="ru-RU" sz="1800" dirty="0">
                <a:solidFill>
                  <a:schemeClr val="bg1"/>
                </a:solidFill>
              </a:rPr>
              <a:t>with a key of (a,b) = (</a:t>
            </a:r>
            <a:r>
              <a:rPr lang="en-US" sz="1800" dirty="0">
                <a:solidFill>
                  <a:schemeClr val="bg1"/>
                </a:solidFill>
              </a:rPr>
              <a:t>3, 13</a:t>
            </a:r>
            <a:r>
              <a:rPr lang="ru-RU" sz="1800" dirty="0">
                <a:solidFill>
                  <a:schemeClr val="bg1"/>
                </a:solidFill>
              </a:rPr>
              <a:t>) </a:t>
            </a:r>
            <a:endParaRPr lang="en-US" sz="1800" dirty="0">
              <a:solidFill>
                <a:schemeClr val="bg1"/>
              </a:solidFill>
            </a:endParaRPr>
          </a:p>
          <a:p>
            <a:endParaRPr lang="en-US" dirty="0"/>
          </a:p>
        </p:txBody>
      </p:sp>
    </p:spTree>
    <p:extLst>
      <p:ext uri="{BB962C8B-B14F-4D97-AF65-F5344CB8AC3E}">
        <p14:creationId xmlns:p14="http://schemas.microsoft.com/office/powerpoint/2010/main" val="2778220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F1814FB6-157B-ED59-9041-1E5BD607BABC}"/>
              </a:ext>
            </a:extLst>
          </p:cNvPr>
          <p:cNvSpPr>
            <a:spLocks noGrp="1"/>
          </p:cNvSpPr>
          <p:nvPr>
            <p:ph type="title"/>
          </p:nvPr>
        </p:nvSpPr>
        <p:spPr>
          <a:xfrm>
            <a:off x="1439993" y="195943"/>
            <a:ext cx="9906000" cy="996076"/>
          </a:xfrm>
        </p:spPr>
        <p:txBody>
          <a:bodyPr>
            <a:normAutofit/>
          </a:bodyPr>
          <a:lstStyle/>
          <a:p>
            <a:r>
              <a:rPr lang="en-US" sz="3200" dirty="0" err="1">
                <a:solidFill>
                  <a:schemeClr val="bg1"/>
                </a:solidFill>
              </a:rPr>
              <a:t>Vigenère</a:t>
            </a:r>
            <a:r>
              <a:rPr lang="en-US" sz="3200" dirty="0">
                <a:solidFill>
                  <a:schemeClr val="bg1"/>
                </a:solidFill>
              </a:rPr>
              <a:t> Cipher</a:t>
            </a:r>
            <a:endParaRPr lang="ru-RU" sz="3200" dirty="0">
              <a:solidFill>
                <a:schemeClr val="bg1"/>
              </a:solidFill>
            </a:endParaRPr>
          </a:p>
        </p:txBody>
      </p:sp>
      <p:sp>
        <p:nvSpPr>
          <p:cNvPr id="5" name="Прямоугольник 3">
            <a:extLst>
              <a:ext uri="{FF2B5EF4-FFF2-40B4-BE49-F238E27FC236}">
                <a16:creationId xmlns:a16="http://schemas.microsoft.com/office/drawing/2014/main" id="{433B2519-9371-A9B9-64C6-4241BABEE9A4}"/>
              </a:ext>
            </a:extLst>
          </p:cNvPr>
          <p:cNvSpPr>
            <a:spLocks noGrp="1"/>
          </p:cNvSpPr>
          <p:nvPr>
            <p:ph idx="1"/>
          </p:nvPr>
        </p:nvSpPr>
        <p:spPr>
          <a:xfrm>
            <a:off x="992123" y="855712"/>
            <a:ext cx="9906000" cy="4090672"/>
          </a:xfrm>
          <a:prstGeom prst="rect">
            <a:avLst/>
          </a:prstGeom>
        </p:spPr>
        <p:txBody>
          <a:bodyPr wrap="square">
            <a:spAutoFit/>
          </a:bodyPr>
          <a:lstStyle/>
          <a:p>
            <a:pPr algn="just"/>
            <a:r>
              <a:rPr lang="en-US" sz="1600" i="1" dirty="0" err="1">
                <a:solidFill>
                  <a:schemeClr val="bg1"/>
                </a:solidFill>
              </a:rPr>
              <a:t>Vigenere</a:t>
            </a:r>
            <a:r>
              <a:rPr lang="en-US" sz="1600" i="1" dirty="0">
                <a:solidFill>
                  <a:schemeClr val="bg1"/>
                </a:solidFill>
              </a:rPr>
              <a:t> Cipher </a:t>
            </a:r>
            <a:r>
              <a:rPr lang="en-US" sz="1600" dirty="0">
                <a:solidFill>
                  <a:schemeClr val="bg1"/>
                </a:solidFill>
              </a:rPr>
              <a:t>is a method of encrypting alphabetic text. It uses a simple form of polyalphabetic substitution. A polyalphabetic cipher is any cipher based on substitution, using multiple substitution alphabets. The encryption of the original text is done using the </a:t>
            </a:r>
            <a:r>
              <a:rPr lang="en-US" sz="1600" i="1" dirty="0" err="1">
                <a:solidFill>
                  <a:schemeClr val="bg1"/>
                </a:solidFill>
              </a:rPr>
              <a:t>Vigenère</a:t>
            </a:r>
            <a:r>
              <a:rPr lang="en-US" sz="1600" i="1" dirty="0">
                <a:solidFill>
                  <a:schemeClr val="bg1"/>
                </a:solidFill>
              </a:rPr>
              <a:t> square or </a:t>
            </a:r>
            <a:r>
              <a:rPr lang="en-US" sz="1600" i="1" dirty="0" err="1">
                <a:solidFill>
                  <a:schemeClr val="bg1"/>
                </a:solidFill>
              </a:rPr>
              <a:t>Vigenère</a:t>
            </a:r>
            <a:r>
              <a:rPr lang="en-US" sz="1600" i="1" dirty="0">
                <a:solidFill>
                  <a:schemeClr val="bg1"/>
                </a:solidFill>
              </a:rPr>
              <a:t> table</a:t>
            </a:r>
            <a:r>
              <a:rPr lang="en-US" sz="1600" dirty="0">
                <a:solidFill>
                  <a:schemeClr val="bg1"/>
                </a:solidFill>
              </a:rPr>
              <a:t>.</a:t>
            </a:r>
            <a:endParaRPr lang="ru-RU" sz="1600" dirty="0">
              <a:solidFill>
                <a:schemeClr val="bg1"/>
              </a:solidFill>
            </a:endParaRPr>
          </a:p>
          <a:p>
            <a:pPr algn="just" fontAlgn="base"/>
            <a:r>
              <a:rPr lang="en-US" sz="1600" dirty="0">
                <a:solidFill>
                  <a:schemeClr val="bg1"/>
                </a:solidFill>
              </a:rPr>
              <a:t>The table consists of the alphabets written out 26 times in different rows, each alphabet shifted cyclically to the left compared to the previous alphabet, corresponding to the 26 possible Caesar Ciphers.</a:t>
            </a:r>
          </a:p>
          <a:p>
            <a:pPr algn="just" fontAlgn="base"/>
            <a:r>
              <a:rPr lang="en-US" sz="1600" dirty="0">
                <a:solidFill>
                  <a:schemeClr val="bg1"/>
                </a:solidFill>
              </a:rPr>
              <a:t>At different points in the encryption process, the cipher uses a different alphabet from one of the rows.</a:t>
            </a:r>
          </a:p>
          <a:p>
            <a:pPr algn="just" fontAlgn="base"/>
            <a:r>
              <a:rPr lang="en-US" sz="1600" dirty="0">
                <a:solidFill>
                  <a:schemeClr val="bg1"/>
                </a:solidFill>
              </a:rPr>
              <a:t>The alphabet used at each point depends on a repeating keyword.</a:t>
            </a:r>
          </a:p>
          <a:p>
            <a:pPr algn="just" fontAlgn="base"/>
            <a:endParaRPr lang="en-US" sz="1600" dirty="0">
              <a:solidFill>
                <a:schemeClr val="bg1"/>
              </a:solidFill>
            </a:endParaRPr>
          </a:p>
          <a:p>
            <a:pPr algn="just" fontAlgn="base"/>
            <a:r>
              <a:rPr lang="en-US" sz="1600" dirty="0">
                <a:solidFill>
                  <a:schemeClr val="bg1"/>
                </a:solidFill>
              </a:rPr>
              <a:t>This algorithm was first described in 1553 by </a:t>
            </a:r>
            <a:r>
              <a:rPr lang="en-US" sz="1600" b="1" dirty="0" err="1">
                <a:solidFill>
                  <a:schemeClr val="bg1"/>
                </a:solidFill>
              </a:rPr>
              <a:t>Giovan</a:t>
            </a:r>
            <a:r>
              <a:rPr lang="en-US" sz="1600" b="1" dirty="0">
                <a:solidFill>
                  <a:schemeClr val="bg1"/>
                </a:solidFill>
              </a:rPr>
              <a:t> Battista </a:t>
            </a:r>
            <a:r>
              <a:rPr lang="en-US" sz="1600" b="1" dirty="0" err="1">
                <a:solidFill>
                  <a:schemeClr val="bg1"/>
                </a:solidFill>
              </a:rPr>
              <a:t>Bellaso</a:t>
            </a:r>
            <a:r>
              <a:rPr lang="en-US" sz="1600" dirty="0">
                <a:solidFill>
                  <a:schemeClr val="bg1"/>
                </a:solidFill>
              </a:rPr>
              <a:t>.</a:t>
            </a:r>
          </a:p>
          <a:p>
            <a:pPr algn="just" fontAlgn="base"/>
            <a:r>
              <a:rPr lang="ru-RU" sz="1600" dirty="0" err="1">
                <a:solidFill>
                  <a:schemeClr val="bg1"/>
                </a:solidFill>
              </a:rPr>
              <a:t>In</a:t>
            </a:r>
            <a:r>
              <a:rPr lang="ru-RU" sz="1600" dirty="0">
                <a:solidFill>
                  <a:schemeClr val="bg1"/>
                </a:solidFill>
              </a:rPr>
              <a:t> </a:t>
            </a:r>
            <a:r>
              <a:rPr lang="ru-RU" sz="1600" dirty="0" err="1">
                <a:solidFill>
                  <a:schemeClr val="bg1"/>
                </a:solidFill>
              </a:rPr>
              <a:t>the</a:t>
            </a:r>
            <a:r>
              <a:rPr lang="ru-RU" sz="1600" dirty="0">
                <a:solidFill>
                  <a:schemeClr val="bg1"/>
                </a:solidFill>
              </a:rPr>
              <a:t> 19th </a:t>
            </a:r>
            <a:r>
              <a:rPr lang="ru-RU" sz="1600" dirty="0" err="1">
                <a:solidFill>
                  <a:schemeClr val="bg1"/>
                </a:solidFill>
              </a:rPr>
              <a:t>century</a:t>
            </a:r>
            <a:r>
              <a:rPr lang="ru-RU" sz="1600" dirty="0">
                <a:solidFill>
                  <a:schemeClr val="bg1"/>
                </a:solidFill>
              </a:rPr>
              <a:t>, </a:t>
            </a:r>
            <a:r>
              <a:rPr lang="ru-RU" sz="1600" dirty="0" err="1">
                <a:solidFill>
                  <a:schemeClr val="bg1"/>
                </a:solidFill>
              </a:rPr>
              <a:t>the</a:t>
            </a:r>
            <a:r>
              <a:rPr lang="ru-RU" sz="1600" dirty="0">
                <a:solidFill>
                  <a:schemeClr val="bg1"/>
                </a:solidFill>
              </a:rPr>
              <a:t> </a:t>
            </a:r>
            <a:r>
              <a:rPr lang="ru-RU" sz="1600" dirty="0" err="1">
                <a:solidFill>
                  <a:schemeClr val="bg1"/>
                </a:solidFill>
              </a:rPr>
              <a:t>scheme</a:t>
            </a:r>
            <a:r>
              <a:rPr lang="ru-RU" sz="1600" dirty="0">
                <a:solidFill>
                  <a:schemeClr val="bg1"/>
                </a:solidFill>
              </a:rPr>
              <a:t> </a:t>
            </a:r>
            <a:r>
              <a:rPr lang="ru-RU" sz="1600" dirty="0" err="1">
                <a:solidFill>
                  <a:schemeClr val="bg1"/>
                </a:solidFill>
              </a:rPr>
              <a:t>was</a:t>
            </a:r>
            <a:r>
              <a:rPr lang="ru-RU" sz="1600" dirty="0">
                <a:solidFill>
                  <a:schemeClr val="bg1"/>
                </a:solidFill>
              </a:rPr>
              <a:t> </a:t>
            </a:r>
            <a:r>
              <a:rPr lang="ru-RU" sz="1600" dirty="0" err="1">
                <a:solidFill>
                  <a:schemeClr val="bg1"/>
                </a:solidFill>
              </a:rPr>
              <a:t>misattributed</a:t>
            </a:r>
            <a:r>
              <a:rPr lang="ru-RU" sz="1600" dirty="0">
                <a:solidFill>
                  <a:schemeClr val="bg1"/>
                </a:solidFill>
              </a:rPr>
              <a:t> </a:t>
            </a:r>
            <a:r>
              <a:rPr lang="ru-RU" sz="1600" dirty="0" err="1">
                <a:solidFill>
                  <a:schemeClr val="bg1"/>
                </a:solidFill>
              </a:rPr>
              <a:t>to</a:t>
            </a:r>
            <a:r>
              <a:rPr lang="ru-RU" sz="1600" dirty="0">
                <a:solidFill>
                  <a:schemeClr val="bg1"/>
                </a:solidFill>
              </a:rPr>
              <a:t> </a:t>
            </a:r>
            <a:r>
              <a:rPr lang="ru-RU" sz="1600" dirty="0" err="1">
                <a:solidFill>
                  <a:schemeClr val="bg1"/>
                </a:solidFill>
              </a:rPr>
              <a:t>Blaise</a:t>
            </a:r>
            <a:r>
              <a:rPr lang="ru-RU" sz="1600" dirty="0">
                <a:solidFill>
                  <a:schemeClr val="bg1"/>
                </a:solidFill>
              </a:rPr>
              <a:t> </a:t>
            </a:r>
            <a:r>
              <a:rPr lang="ru-RU" sz="1600" dirty="0" err="1">
                <a:solidFill>
                  <a:schemeClr val="bg1"/>
                </a:solidFill>
              </a:rPr>
              <a:t>de</a:t>
            </a:r>
            <a:r>
              <a:rPr lang="ru-RU" sz="1600" dirty="0">
                <a:solidFill>
                  <a:schemeClr val="bg1"/>
                </a:solidFill>
              </a:rPr>
              <a:t> </a:t>
            </a:r>
            <a:r>
              <a:rPr lang="ru-RU" sz="1600" dirty="0" err="1">
                <a:solidFill>
                  <a:schemeClr val="bg1"/>
                </a:solidFill>
              </a:rPr>
              <a:t>Vigenère</a:t>
            </a:r>
            <a:r>
              <a:rPr lang="ru-RU" sz="1600" dirty="0">
                <a:solidFill>
                  <a:schemeClr val="bg1"/>
                </a:solidFill>
              </a:rPr>
              <a:t> (1523–1596) </a:t>
            </a:r>
            <a:r>
              <a:rPr lang="ru-RU" sz="1600" dirty="0" err="1">
                <a:solidFill>
                  <a:schemeClr val="bg1"/>
                </a:solidFill>
              </a:rPr>
              <a:t>and</a:t>
            </a:r>
            <a:r>
              <a:rPr lang="ru-RU" sz="1600" dirty="0">
                <a:solidFill>
                  <a:schemeClr val="bg1"/>
                </a:solidFill>
              </a:rPr>
              <a:t> </a:t>
            </a:r>
            <a:r>
              <a:rPr lang="ru-RU" sz="1600" dirty="0" err="1">
                <a:solidFill>
                  <a:schemeClr val="bg1"/>
                </a:solidFill>
              </a:rPr>
              <a:t>so</a:t>
            </a:r>
            <a:r>
              <a:rPr lang="ru-RU" sz="1600" dirty="0">
                <a:solidFill>
                  <a:schemeClr val="bg1"/>
                </a:solidFill>
              </a:rPr>
              <a:t> </a:t>
            </a:r>
            <a:r>
              <a:rPr lang="ru-RU" sz="1600" dirty="0" err="1">
                <a:solidFill>
                  <a:schemeClr val="bg1"/>
                </a:solidFill>
              </a:rPr>
              <a:t>acquired</a:t>
            </a:r>
            <a:r>
              <a:rPr lang="ru-RU" sz="1600" dirty="0">
                <a:solidFill>
                  <a:schemeClr val="bg1"/>
                </a:solidFill>
              </a:rPr>
              <a:t> </a:t>
            </a:r>
            <a:r>
              <a:rPr lang="ru-RU" sz="1600" dirty="0" err="1">
                <a:solidFill>
                  <a:schemeClr val="bg1"/>
                </a:solidFill>
              </a:rPr>
              <a:t>its</a:t>
            </a:r>
            <a:r>
              <a:rPr lang="ru-RU" sz="1600" dirty="0">
                <a:solidFill>
                  <a:schemeClr val="bg1"/>
                </a:solidFill>
              </a:rPr>
              <a:t> </a:t>
            </a:r>
            <a:r>
              <a:rPr lang="ru-RU" sz="1600" dirty="0" err="1">
                <a:solidFill>
                  <a:schemeClr val="bg1"/>
                </a:solidFill>
              </a:rPr>
              <a:t>present</a:t>
            </a:r>
            <a:r>
              <a:rPr lang="ru-RU" sz="1600" dirty="0">
                <a:solidFill>
                  <a:schemeClr val="bg1"/>
                </a:solidFill>
              </a:rPr>
              <a:t> </a:t>
            </a:r>
            <a:r>
              <a:rPr lang="ru-RU" sz="1600" dirty="0" err="1">
                <a:solidFill>
                  <a:schemeClr val="bg1"/>
                </a:solidFill>
              </a:rPr>
              <a:t>name</a:t>
            </a:r>
            <a:r>
              <a:rPr lang="ru-RU" sz="1600" dirty="0">
                <a:solidFill>
                  <a:schemeClr val="bg1"/>
                </a:solidFill>
              </a:rPr>
              <a:t>.</a:t>
            </a:r>
          </a:p>
        </p:txBody>
      </p:sp>
    </p:spTree>
    <p:extLst>
      <p:ext uri="{BB962C8B-B14F-4D97-AF65-F5344CB8AC3E}">
        <p14:creationId xmlns:p14="http://schemas.microsoft.com/office/powerpoint/2010/main" val="1552705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Vigenère Cipher in Python - CodeDromeCodeDrome">
            <a:extLst>
              <a:ext uri="{FF2B5EF4-FFF2-40B4-BE49-F238E27FC236}">
                <a16:creationId xmlns:a16="http://schemas.microsoft.com/office/drawing/2014/main" id="{94710AD1-8CA4-055F-2E12-3BBECA9B2B5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7970" y="515532"/>
            <a:ext cx="9857234" cy="5826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0456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D2FF6DE-4ADA-E6FC-6CC7-DC9231155B99}"/>
              </a:ext>
            </a:extLst>
          </p:cNvPr>
          <p:cNvSpPr txBox="1"/>
          <p:nvPr/>
        </p:nvSpPr>
        <p:spPr>
          <a:xfrm>
            <a:off x="1038031" y="833543"/>
            <a:ext cx="9906777" cy="92333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ru-RU" altLang="ru-RU" sz="1800" b="1" i="0" u="none" strike="noStrike" cap="none" normalizeH="0" baseline="0" dirty="0">
                <a:ln>
                  <a:noFill/>
                </a:ln>
                <a:solidFill>
                  <a:srgbClr val="333333"/>
                </a:solidFill>
                <a:effectLst/>
                <a:latin typeface="+mn-lt"/>
                <a:cs typeface="Times New Roman" panose="02020603050405020304" pitchFamily="18" charset="0"/>
              </a:rPr>
              <a:t>Example: The plaintext is “</a:t>
            </a:r>
            <a:r>
              <a:rPr kumimoji="0" lang="en-US" altLang="ru-RU" sz="1800" b="1" i="0" u="none" strike="noStrike" cap="none" normalizeH="0" baseline="0" dirty="0">
                <a:ln>
                  <a:noFill/>
                </a:ln>
                <a:solidFill>
                  <a:srgbClr val="333333"/>
                </a:solidFill>
                <a:effectLst/>
                <a:latin typeface="+mn-lt"/>
                <a:cs typeface="Times New Roman" panose="02020603050405020304" pitchFamily="18" charset="0"/>
              </a:rPr>
              <a:t>CRYPTOGRAPHY</a:t>
            </a:r>
            <a:r>
              <a:rPr kumimoji="0" lang="ru-RU" altLang="ru-RU" sz="1800" b="1" i="0" u="none" strike="noStrike" cap="none" normalizeH="0" baseline="0" dirty="0">
                <a:ln>
                  <a:noFill/>
                </a:ln>
                <a:solidFill>
                  <a:srgbClr val="333333"/>
                </a:solidFill>
                <a:effectLst/>
                <a:latin typeface="+mn-lt"/>
                <a:cs typeface="Times New Roman" panose="02020603050405020304" pitchFamily="18" charset="0"/>
              </a:rPr>
              <a:t>", and the key is “</a:t>
            </a:r>
            <a:r>
              <a:rPr kumimoji="0" lang="en-US" altLang="ru-RU" sz="1800" b="1" i="0" u="none" strike="noStrike" cap="none" normalizeH="0" baseline="0" dirty="0">
                <a:ln>
                  <a:noFill/>
                </a:ln>
                <a:solidFill>
                  <a:srgbClr val="333333"/>
                </a:solidFill>
                <a:effectLst/>
                <a:latin typeface="+mn-lt"/>
                <a:cs typeface="Times New Roman" panose="02020603050405020304" pitchFamily="18" charset="0"/>
              </a:rPr>
              <a:t>KEY</a:t>
            </a:r>
            <a:r>
              <a:rPr kumimoji="0" lang="ru-RU" altLang="ru-RU" sz="1800" b="1" i="0" u="none" strike="noStrike" cap="none" normalizeH="0" baseline="0" dirty="0">
                <a:ln>
                  <a:noFill/>
                </a:ln>
                <a:solidFill>
                  <a:srgbClr val="333333"/>
                </a:solidFill>
                <a:effectLst/>
                <a:latin typeface="+mn-lt"/>
                <a:cs typeface="Times New Roman" panose="02020603050405020304" pitchFamily="18" charset="0"/>
              </a:rPr>
              <a:t>".</a:t>
            </a:r>
            <a:endParaRPr kumimoji="0" lang="ru-RU" altLang="ru-RU" sz="1800" b="0" i="0" u="none" strike="noStrike" cap="none" normalizeH="0" baseline="0" dirty="0">
              <a:ln>
                <a:noFill/>
              </a:ln>
              <a:solidFill>
                <a:schemeClr val="tx1"/>
              </a:solidFill>
              <a:effectLst/>
              <a:latin typeface="+mn-l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ru-RU" altLang="ru-RU" sz="1800" b="0" i="0" u="none" strike="noStrike" cap="none" normalizeH="0" baseline="0" dirty="0">
                <a:ln>
                  <a:noFill/>
                </a:ln>
                <a:solidFill>
                  <a:srgbClr val="333333"/>
                </a:solidFill>
                <a:effectLst/>
                <a:latin typeface="+mn-lt"/>
                <a:cs typeface="Times New Roman" panose="02020603050405020304" pitchFamily="18" charset="0"/>
              </a:rPr>
              <a:t>To generate a new key, the given key is repeated </a:t>
            </a:r>
            <a:r>
              <a:rPr kumimoji="0" lang="en-US" altLang="ru-RU" sz="1800" b="0" i="0" u="none" strike="noStrike" cap="none" normalizeH="0" baseline="0" dirty="0">
                <a:ln>
                  <a:noFill/>
                </a:ln>
                <a:solidFill>
                  <a:srgbClr val="333333"/>
                </a:solidFill>
                <a:effectLst/>
                <a:latin typeface="+mn-lt"/>
                <a:cs typeface="Times New Roman" panose="02020603050405020304" pitchFamily="18" charset="0"/>
              </a:rPr>
              <a:t>circularly</a:t>
            </a:r>
            <a:r>
              <a:rPr kumimoji="0" lang="ru-RU" altLang="ru-RU" sz="1800" b="0" i="0" u="none" strike="noStrike" cap="none" normalizeH="0" baseline="0" dirty="0">
                <a:ln>
                  <a:noFill/>
                </a:ln>
                <a:solidFill>
                  <a:srgbClr val="333333"/>
                </a:solidFill>
                <a:effectLst/>
                <a:latin typeface="+mn-lt"/>
                <a:cs typeface="Times New Roman" panose="02020603050405020304" pitchFamily="18" charset="0"/>
              </a:rPr>
              <a:t>, as long as the length of the plain text does not equal to the new key.</a:t>
            </a:r>
            <a:endParaRPr kumimoji="0" lang="ru-RU" altLang="ru-RU" sz="1800" b="0" i="0" u="none" strike="noStrike" cap="none" normalizeH="0" baseline="0" dirty="0">
              <a:ln>
                <a:noFill/>
              </a:ln>
              <a:solidFill>
                <a:schemeClr val="tx1"/>
              </a:solidFill>
              <a:effectLst/>
              <a:latin typeface="+mn-lt"/>
              <a:cs typeface="Times New Roman" panose="02020603050405020304" pitchFamily="18" charset="0"/>
            </a:endParaRPr>
          </a:p>
        </p:txBody>
      </p:sp>
      <p:graphicFrame>
        <p:nvGraphicFramePr>
          <p:cNvPr id="7" name="Таблица 5">
            <a:extLst>
              <a:ext uri="{FF2B5EF4-FFF2-40B4-BE49-F238E27FC236}">
                <a16:creationId xmlns:a16="http://schemas.microsoft.com/office/drawing/2014/main" id="{AF71807F-CEF8-FB2F-689C-21CF5C14963A}"/>
              </a:ext>
            </a:extLst>
          </p:cNvPr>
          <p:cNvGraphicFramePr>
            <a:graphicFrameLocks noGrp="1"/>
          </p:cNvGraphicFramePr>
          <p:nvPr>
            <p:extLst>
              <p:ext uri="{D42A27DB-BD31-4B8C-83A1-F6EECF244321}">
                <p14:modId xmlns:p14="http://schemas.microsoft.com/office/powerpoint/2010/main" val="3178417792"/>
              </p:ext>
            </p:extLst>
          </p:nvPr>
        </p:nvGraphicFramePr>
        <p:xfrm>
          <a:off x="2196017" y="1930193"/>
          <a:ext cx="8127999" cy="736600"/>
        </p:xfrm>
        <a:graphic>
          <a:graphicData uri="http://schemas.openxmlformats.org/drawingml/2006/table">
            <a:tbl>
              <a:tblPr firstRow="1" bandRow="1">
                <a:tableStyleId>{5C22544A-7EE6-4342-B048-85BDC9FD1C3A}</a:tableStyleId>
              </a:tblPr>
              <a:tblGrid>
                <a:gridCol w="738909">
                  <a:extLst>
                    <a:ext uri="{9D8B030D-6E8A-4147-A177-3AD203B41FA5}">
                      <a16:colId xmlns:a16="http://schemas.microsoft.com/office/drawing/2014/main" val="20000"/>
                    </a:ext>
                  </a:extLst>
                </a:gridCol>
                <a:gridCol w="738909">
                  <a:extLst>
                    <a:ext uri="{9D8B030D-6E8A-4147-A177-3AD203B41FA5}">
                      <a16:colId xmlns:a16="http://schemas.microsoft.com/office/drawing/2014/main" val="20001"/>
                    </a:ext>
                  </a:extLst>
                </a:gridCol>
                <a:gridCol w="738909">
                  <a:extLst>
                    <a:ext uri="{9D8B030D-6E8A-4147-A177-3AD203B41FA5}">
                      <a16:colId xmlns:a16="http://schemas.microsoft.com/office/drawing/2014/main" val="20002"/>
                    </a:ext>
                  </a:extLst>
                </a:gridCol>
                <a:gridCol w="738909">
                  <a:extLst>
                    <a:ext uri="{9D8B030D-6E8A-4147-A177-3AD203B41FA5}">
                      <a16:colId xmlns:a16="http://schemas.microsoft.com/office/drawing/2014/main" val="20003"/>
                    </a:ext>
                  </a:extLst>
                </a:gridCol>
                <a:gridCol w="738909">
                  <a:extLst>
                    <a:ext uri="{9D8B030D-6E8A-4147-A177-3AD203B41FA5}">
                      <a16:colId xmlns:a16="http://schemas.microsoft.com/office/drawing/2014/main" val="20004"/>
                    </a:ext>
                  </a:extLst>
                </a:gridCol>
                <a:gridCol w="738909">
                  <a:extLst>
                    <a:ext uri="{9D8B030D-6E8A-4147-A177-3AD203B41FA5}">
                      <a16:colId xmlns:a16="http://schemas.microsoft.com/office/drawing/2014/main" val="20005"/>
                    </a:ext>
                  </a:extLst>
                </a:gridCol>
                <a:gridCol w="738909">
                  <a:extLst>
                    <a:ext uri="{9D8B030D-6E8A-4147-A177-3AD203B41FA5}">
                      <a16:colId xmlns:a16="http://schemas.microsoft.com/office/drawing/2014/main" val="20006"/>
                    </a:ext>
                  </a:extLst>
                </a:gridCol>
                <a:gridCol w="738909">
                  <a:extLst>
                    <a:ext uri="{9D8B030D-6E8A-4147-A177-3AD203B41FA5}">
                      <a16:colId xmlns:a16="http://schemas.microsoft.com/office/drawing/2014/main" val="20007"/>
                    </a:ext>
                  </a:extLst>
                </a:gridCol>
                <a:gridCol w="738909">
                  <a:extLst>
                    <a:ext uri="{9D8B030D-6E8A-4147-A177-3AD203B41FA5}">
                      <a16:colId xmlns:a16="http://schemas.microsoft.com/office/drawing/2014/main" val="20008"/>
                    </a:ext>
                  </a:extLst>
                </a:gridCol>
                <a:gridCol w="738909">
                  <a:extLst>
                    <a:ext uri="{9D8B030D-6E8A-4147-A177-3AD203B41FA5}">
                      <a16:colId xmlns:a16="http://schemas.microsoft.com/office/drawing/2014/main" val="20009"/>
                    </a:ext>
                  </a:extLst>
                </a:gridCol>
                <a:gridCol w="738909">
                  <a:extLst>
                    <a:ext uri="{9D8B030D-6E8A-4147-A177-3AD203B41FA5}">
                      <a16:colId xmlns:a16="http://schemas.microsoft.com/office/drawing/2014/main" val="20010"/>
                    </a:ext>
                  </a:extLst>
                </a:gridCol>
              </a:tblGrid>
              <a:tr h="315912">
                <a:tc>
                  <a:txBody>
                    <a:bodyPr/>
                    <a:lstStyle/>
                    <a:p>
                      <a:r>
                        <a:rPr lang="en-US" dirty="0"/>
                        <a:t>C</a:t>
                      </a:r>
                      <a:endParaRPr lang="ru-RU" dirty="0"/>
                    </a:p>
                  </a:txBody>
                  <a:tcPr/>
                </a:tc>
                <a:tc>
                  <a:txBody>
                    <a:bodyPr/>
                    <a:lstStyle/>
                    <a:p>
                      <a:r>
                        <a:rPr lang="en-US" dirty="0"/>
                        <a:t>R</a:t>
                      </a:r>
                      <a:endParaRPr lang="ru-RU" dirty="0"/>
                    </a:p>
                  </a:txBody>
                  <a:tcPr/>
                </a:tc>
                <a:tc>
                  <a:txBody>
                    <a:bodyPr/>
                    <a:lstStyle/>
                    <a:p>
                      <a:r>
                        <a:rPr lang="en-US" dirty="0"/>
                        <a:t>Y</a:t>
                      </a:r>
                      <a:endParaRPr lang="ru-RU" dirty="0"/>
                    </a:p>
                  </a:txBody>
                  <a:tcPr/>
                </a:tc>
                <a:tc>
                  <a:txBody>
                    <a:bodyPr/>
                    <a:lstStyle/>
                    <a:p>
                      <a:r>
                        <a:rPr lang="en-US" dirty="0"/>
                        <a:t>P</a:t>
                      </a:r>
                      <a:endParaRPr lang="ru-RU" dirty="0"/>
                    </a:p>
                  </a:txBody>
                  <a:tcPr/>
                </a:tc>
                <a:tc>
                  <a:txBody>
                    <a:bodyPr/>
                    <a:lstStyle/>
                    <a:p>
                      <a:r>
                        <a:rPr lang="en-US" dirty="0"/>
                        <a:t>T</a:t>
                      </a:r>
                      <a:endParaRPr lang="ru-RU" dirty="0"/>
                    </a:p>
                  </a:txBody>
                  <a:tcPr/>
                </a:tc>
                <a:tc>
                  <a:txBody>
                    <a:bodyPr/>
                    <a:lstStyle/>
                    <a:p>
                      <a:r>
                        <a:rPr lang="en-US" dirty="0"/>
                        <a:t>G</a:t>
                      </a:r>
                      <a:endParaRPr lang="ru-RU" dirty="0"/>
                    </a:p>
                  </a:txBody>
                  <a:tcPr/>
                </a:tc>
                <a:tc>
                  <a:txBody>
                    <a:bodyPr/>
                    <a:lstStyle/>
                    <a:p>
                      <a:r>
                        <a:rPr lang="en-US" dirty="0"/>
                        <a:t>R</a:t>
                      </a:r>
                      <a:endParaRPr lang="ru-RU" dirty="0"/>
                    </a:p>
                  </a:txBody>
                  <a:tcPr/>
                </a:tc>
                <a:tc>
                  <a:txBody>
                    <a:bodyPr/>
                    <a:lstStyle/>
                    <a:p>
                      <a:r>
                        <a:rPr lang="en-US" dirty="0"/>
                        <a:t>A</a:t>
                      </a:r>
                      <a:endParaRPr lang="ru-RU" dirty="0"/>
                    </a:p>
                  </a:txBody>
                  <a:tcPr/>
                </a:tc>
                <a:tc>
                  <a:txBody>
                    <a:bodyPr/>
                    <a:lstStyle/>
                    <a:p>
                      <a:r>
                        <a:rPr lang="en-US" dirty="0"/>
                        <a:t>P</a:t>
                      </a:r>
                      <a:endParaRPr lang="ru-RU" dirty="0"/>
                    </a:p>
                  </a:txBody>
                  <a:tcPr/>
                </a:tc>
                <a:tc>
                  <a:txBody>
                    <a:bodyPr/>
                    <a:lstStyle/>
                    <a:p>
                      <a:r>
                        <a:rPr lang="en-US" dirty="0"/>
                        <a:t>H</a:t>
                      </a:r>
                      <a:endParaRPr lang="ru-RU" dirty="0"/>
                    </a:p>
                  </a:txBody>
                  <a:tcPr/>
                </a:tc>
                <a:tc>
                  <a:txBody>
                    <a:bodyPr/>
                    <a:lstStyle/>
                    <a:p>
                      <a:r>
                        <a:rPr lang="en-US" dirty="0"/>
                        <a:t>Y</a:t>
                      </a:r>
                      <a:endParaRPr lang="ru-RU" dirty="0"/>
                    </a:p>
                  </a:txBody>
                  <a:tcPr/>
                </a:tc>
                <a:extLst>
                  <a:ext uri="{0D108BD9-81ED-4DB2-BD59-A6C34878D82A}">
                    <a16:rowId xmlns:a16="http://schemas.microsoft.com/office/drawing/2014/main" val="10000"/>
                  </a:ext>
                </a:extLst>
              </a:tr>
              <a:tr h="370840">
                <a:tc>
                  <a:txBody>
                    <a:bodyPr/>
                    <a:lstStyle/>
                    <a:p>
                      <a:r>
                        <a:rPr lang="en-US" dirty="0"/>
                        <a:t>K</a:t>
                      </a:r>
                      <a:endParaRPr lang="ru-RU" dirty="0"/>
                    </a:p>
                  </a:txBody>
                  <a:tcPr/>
                </a:tc>
                <a:tc>
                  <a:txBody>
                    <a:bodyPr/>
                    <a:lstStyle/>
                    <a:p>
                      <a:r>
                        <a:rPr lang="en-US" dirty="0"/>
                        <a:t>E</a:t>
                      </a:r>
                      <a:endParaRPr lang="ru-RU" dirty="0"/>
                    </a:p>
                  </a:txBody>
                  <a:tcPr/>
                </a:tc>
                <a:tc>
                  <a:txBody>
                    <a:bodyPr/>
                    <a:lstStyle/>
                    <a:p>
                      <a:r>
                        <a:rPr lang="en-US" dirty="0"/>
                        <a:t>Y</a:t>
                      </a:r>
                      <a:endParaRPr lang="ru-RU" dirty="0"/>
                    </a:p>
                  </a:txBody>
                  <a:tcPr/>
                </a:tc>
                <a:tc>
                  <a:txBody>
                    <a:bodyPr/>
                    <a:lstStyle/>
                    <a:p>
                      <a:r>
                        <a:rPr lang="en-US" dirty="0"/>
                        <a:t>K</a:t>
                      </a:r>
                      <a:endParaRPr lang="ru-RU" dirty="0"/>
                    </a:p>
                  </a:txBody>
                  <a:tcPr/>
                </a:tc>
                <a:tc>
                  <a:txBody>
                    <a:bodyPr/>
                    <a:lstStyle/>
                    <a:p>
                      <a:r>
                        <a:rPr lang="en-US" dirty="0"/>
                        <a:t>E</a:t>
                      </a:r>
                      <a:endParaRPr lang="ru-RU" dirty="0"/>
                    </a:p>
                  </a:txBody>
                  <a:tcPr/>
                </a:tc>
                <a:tc>
                  <a:txBody>
                    <a:bodyPr/>
                    <a:lstStyle/>
                    <a:p>
                      <a:r>
                        <a:rPr lang="en-US" dirty="0"/>
                        <a:t>Y</a:t>
                      </a:r>
                      <a:endParaRPr lang="ru-RU" dirty="0"/>
                    </a:p>
                  </a:txBody>
                  <a:tcPr/>
                </a:tc>
                <a:tc>
                  <a:txBody>
                    <a:bodyPr/>
                    <a:lstStyle/>
                    <a:p>
                      <a:r>
                        <a:rPr lang="en-US" dirty="0"/>
                        <a:t>K</a:t>
                      </a:r>
                      <a:endParaRPr lang="ru-RU" dirty="0"/>
                    </a:p>
                  </a:txBody>
                  <a:tcPr/>
                </a:tc>
                <a:tc>
                  <a:txBody>
                    <a:bodyPr/>
                    <a:lstStyle/>
                    <a:p>
                      <a:r>
                        <a:rPr lang="en-US" dirty="0"/>
                        <a:t>E</a:t>
                      </a:r>
                      <a:endParaRPr lang="ru-RU" dirty="0"/>
                    </a:p>
                  </a:txBody>
                  <a:tcPr/>
                </a:tc>
                <a:tc>
                  <a:txBody>
                    <a:bodyPr/>
                    <a:lstStyle/>
                    <a:p>
                      <a:r>
                        <a:rPr lang="en-US" dirty="0"/>
                        <a:t>Y</a:t>
                      </a:r>
                      <a:endParaRPr lang="ru-RU" dirty="0"/>
                    </a:p>
                  </a:txBody>
                  <a:tcPr/>
                </a:tc>
                <a:tc>
                  <a:txBody>
                    <a:bodyPr/>
                    <a:lstStyle/>
                    <a:p>
                      <a:r>
                        <a:rPr lang="en-US" dirty="0"/>
                        <a:t>K</a:t>
                      </a:r>
                      <a:endParaRPr lang="ru-RU" dirty="0"/>
                    </a:p>
                  </a:txBody>
                  <a:tcPr/>
                </a:tc>
                <a:tc>
                  <a:txBody>
                    <a:bodyPr/>
                    <a:lstStyle/>
                    <a:p>
                      <a:r>
                        <a:rPr lang="en-US" dirty="0"/>
                        <a:t>E</a:t>
                      </a:r>
                      <a:endParaRPr lang="ru-RU" dirty="0"/>
                    </a:p>
                  </a:txBody>
                  <a:tcPr/>
                </a:tc>
                <a:extLst>
                  <a:ext uri="{0D108BD9-81ED-4DB2-BD59-A6C34878D82A}">
                    <a16:rowId xmlns:a16="http://schemas.microsoft.com/office/drawing/2014/main" val="10001"/>
                  </a:ext>
                </a:extLst>
              </a:tr>
            </a:tbl>
          </a:graphicData>
        </a:graphic>
      </p:graphicFrame>
      <p:sp>
        <p:nvSpPr>
          <p:cNvPr id="8" name="Прямоугольник 8">
            <a:extLst>
              <a:ext uri="{FF2B5EF4-FFF2-40B4-BE49-F238E27FC236}">
                <a16:creationId xmlns:a16="http://schemas.microsoft.com/office/drawing/2014/main" id="{752FEF3B-DE93-5307-3BA2-BC5CD6222BC1}"/>
              </a:ext>
            </a:extLst>
          </p:cNvPr>
          <p:cNvSpPr/>
          <p:nvPr/>
        </p:nvSpPr>
        <p:spPr>
          <a:xfrm>
            <a:off x="781703" y="2792804"/>
            <a:ext cx="10825579" cy="2308324"/>
          </a:xfrm>
          <a:prstGeom prst="rect">
            <a:avLst/>
          </a:prstGeom>
        </p:spPr>
        <p:txBody>
          <a:bodyPr wrap="square">
            <a:spAutoFit/>
          </a:bodyPr>
          <a:lstStyle/>
          <a:p>
            <a:pPr lvl="0" algn="just" eaLnBrk="0" fontAlgn="base" hangingPunct="0">
              <a:spcBef>
                <a:spcPct val="0"/>
              </a:spcBef>
              <a:spcAft>
                <a:spcPct val="0"/>
              </a:spcAft>
            </a:pPr>
            <a:r>
              <a:rPr lang="ru-RU" altLang="ru-RU" b="1" dirty="0" err="1">
                <a:solidFill>
                  <a:srgbClr val="333333"/>
                </a:solidFill>
                <a:cs typeface="Times New Roman" panose="02020603050405020304" pitchFamily="18" charset="0"/>
              </a:rPr>
              <a:t>Encryption</a:t>
            </a:r>
            <a:endParaRPr lang="ru-RU" altLang="ru-RU" dirty="0">
              <a:cs typeface="Times New Roman" panose="02020603050405020304" pitchFamily="18" charset="0"/>
            </a:endParaRPr>
          </a:p>
          <a:p>
            <a:pPr lvl="0" algn="just" eaLnBrk="0" fontAlgn="base" hangingPunct="0">
              <a:spcBef>
                <a:spcPct val="0"/>
              </a:spcBef>
              <a:spcAft>
                <a:spcPct val="0"/>
              </a:spcAft>
            </a:pP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first</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letter</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plaintext</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is</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combined</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with</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first</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letter</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key</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column</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plain</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text</a:t>
            </a:r>
            <a:r>
              <a:rPr lang="ru-RU" altLang="ru-RU" dirty="0">
                <a:solidFill>
                  <a:srgbClr val="333333"/>
                </a:solidFill>
                <a:cs typeface="Times New Roman" panose="02020603050405020304" pitchFamily="18" charset="0"/>
              </a:rPr>
              <a:t> “</a:t>
            </a:r>
            <a:r>
              <a:rPr lang="en-US" altLang="ru-RU" dirty="0">
                <a:solidFill>
                  <a:srgbClr val="333333"/>
                </a:solidFill>
                <a:cs typeface="Times New Roman" panose="02020603050405020304" pitchFamily="18" charset="0"/>
              </a:rPr>
              <a:t>C</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and</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row</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key</a:t>
            </a:r>
            <a:r>
              <a:rPr lang="ru-RU" altLang="ru-RU" dirty="0">
                <a:solidFill>
                  <a:srgbClr val="333333"/>
                </a:solidFill>
                <a:cs typeface="Times New Roman" panose="02020603050405020304" pitchFamily="18" charset="0"/>
              </a:rPr>
              <a:t> “</a:t>
            </a:r>
            <a:r>
              <a:rPr lang="en-US" altLang="ru-RU" dirty="0">
                <a:solidFill>
                  <a:srgbClr val="333333"/>
                </a:solidFill>
                <a:cs typeface="Times New Roman" panose="02020603050405020304" pitchFamily="18" charset="0"/>
              </a:rPr>
              <a:t>K</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intersects</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alphabet</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en-US" altLang="ru-RU" dirty="0">
                <a:solidFill>
                  <a:srgbClr val="333333"/>
                </a:solidFill>
                <a:cs typeface="Times New Roman" panose="02020603050405020304" pitchFamily="18" charset="0"/>
              </a:rPr>
              <a:t>M</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in</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vigenere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table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so</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first</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letter</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ciphertext</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is</a:t>
            </a:r>
            <a:r>
              <a:rPr lang="ru-RU" altLang="ru-RU" dirty="0">
                <a:solidFill>
                  <a:srgbClr val="333333"/>
                </a:solidFill>
                <a:cs typeface="Times New Roman" panose="02020603050405020304" pitchFamily="18" charset="0"/>
              </a:rPr>
              <a:t> “</a:t>
            </a:r>
            <a:r>
              <a:rPr lang="en-US" altLang="ru-RU" dirty="0">
                <a:solidFill>
                  <a:srgbClr val="333333"/>
                </a:solidFill>
                <a:cs typeface="Times New Roman" panose="02020603050405020304" pitchFamily="18" charset="0"/>
              </a:rPr>
              <a:t>M</a:t>
            </a:r>
            <a:r>
              <a:rPr lang="ru-RU" altLang="ru-RU" dirty="0">
                <a:solidFill>
                  <a:srgbClr val="333333"/>
                </a:solidFill>
                <a:cs typeface="Times New Roman" panose="02020603050405020304" pitchFamily="18" charset="0"/>
              </a:rPr>
              <a:t>".</a:t>
            </a:r>
            <a:endParaRPr lang="ru-RU" altLang="ru-RU" dirty="0">
              <a:cs typeface="Times New Roman" panose="02020603050405020304" pitchFamily="18" charset="0"/>
            </a:endParaRPr>
          </a:p>
          <a:p>
            <a:pPr lvl="0" algn="just" eaLnBrk="0" fontAlgn="base" hangingPunct="0">
              <a:spcBef>
                <a:spcPct val="0"/>
              </a:spcBef>
              <a:spcAft>
                <a:spcPct val="0"/>
              </a:spcAft>
            </a:pPr>
            <a:r>
              <a:rPr lang="ru-RU" altLang="ru-RU" dirty="0" err="1">
                <a:solidFill>
                  <a:srgbClr val="333333"/>
                </a:solidFill>
                <a:cs typeface="Times New Roman" panose="02020603050405020304" pitchFamily="18" charset="0"/>
              </a:rPr>
              <a:t>Similarly</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second</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letter</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plaintext</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is</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combined</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with</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second</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letter</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key</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column</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plain</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text</a:t>
            </a:r>
            <a:r>
              <a:rPr lang="ru-RU" altLang="ru-RU" dirty="0">
                <a:solidFill>
                  <a:srgbClr val="333333"/>
                </a:solidFill>
                <a:cs typeface="Times New Roman" panose="02020603050405020304" pitchFamily="18" charset="0"/>
              </a:rPr>
              <a:t> “</a:t>
            </a:r>
            <a:r>
              <a:rPr lang="en-US" altLang="ru-RU" dirty="0">
                <a:solidFill>
                  <a:srgbClr val="333333"/>
                </a:solidFill>
                <a:cs typeface="Times New Roman" panose="02020603050405020304" pitchFamily="18" charset="0"/>
              </a:rPr>
              <a:t>R</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and</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row</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key</a:t>
            </a:r>
            <a:r>
              <a:rPr lang="ru-RU" altLang="ru-RU" dirty="0">
                <a:solidFill>
                  <a:srgbClr val="333333"/>
                </a:solidFill>
                <a:cs typeface="Times New Roman" panose="02020603050405020304" pitchFamily="18" charset="0"/>
              </a:rPr>
              <a:t> “</a:t>
            </a:r>
            <a:r>
              <a:rPr lang="en-US" altLang="ru-RU" dirty="0">
                <a:solidFill>
                  <a:srgbClr val="333333"/>
                </a:solidFill>
                <a:cs typeface="Times New Roman" panose="02020603050405020304" pitchFamily="18" charset="0"/>
              </a:rPr>
              <a:t>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intersects</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alphabet</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en-US" altLang="ru-RU" dirty="0">
                <a:solidFill>
                  <a:srgbClr val="333333"/>
                </a:solidFill>
                <a:cs typeface="Times New Roman" panose="02020603050405020304" pitchFamily="18" charset="0"/>
              </a:rPr>
              <a:t>V</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in</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vigenere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table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so</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second</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letter</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of</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ciphertext</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is</a:t>
            </a:r>
            <a:r>
              <a:rPr lang="ru-RU" altLang="ru-RU" dirty="0">
                <a:solidFill>
                  <a:srgbClr val="333333"/>
                </a:solidFill>
                <a:cs typeface="Times New Roman" panose="02020603050405020304" pitchFamily="18" charset="0"/>
              </a:rPr>
              <a:t> "</a:t>
            </a:r>
            <a:r>
              <a:rPr lang="en-US" altLang="ru-RU" dirty="0">
                <a:solidFill>
                  <a:srgbClr val="333333"/>
                </a:solidFill>
                <a:cs typeface="Times New Roman" panose="02020603050405020304" pitchFamily="18" charset="0"/>
              </a:rPr>
              <a:t>V</a:t>
            </a:r>
            <a:r>
              <a:rPr lang="ru-RU" altLang="ru-RU" dirty="0">
                <a:solidFill>
                  <a:srgbClr val="333333"/>
                </a:solidFill>
                <a:cs typeface="Times New Roman" panose="02020603050405020304" pitchFamily="18" charset="0"/>
              </a:rPr>
              <a:t>".</a:t>
            </a:r>
            <a:endParaRPr lang="ru-RU" altLang="ru-RU" dirty="0">
              <a:cs typeface="Times New Roman" panose="02020603050405020304" pitchFamily="18" charset="0"/>
            </a:endParaRPr>
          </a:p>
          <a:p>
            <a:pPr lvl="0" algn="just" eaLnBrk="0" fontAlgn="base" hangingPunct="0">
              <a:spcBef>
                <a:spcPct val="0"/>
              </a:spcBef>
              <a:spcAft>
                <a:spcPct val="0"/>
              </a:spcAft>
            </a:pPr>
            <a:r>
              <a:rPr lang="ru-RU" altLang="ru-RU" dirty="0" err="1">
                <a:solidFill>
                  <a:srgbClr val="333333"/>
                </a:solidFill>
                <a:cs typeface="Times New Roman" panose="02020603050405020304" pitchFamily="18" charset="0"/>
              </a:rPr>
              <a:t>This</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process</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continues</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continuously</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until</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the</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plaintext</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is</a:t>
            </a:r>
            <a:r>
              <a:rPr lang="ru-RU" altLang="ru-RU" dirty="0">
                <a:solidFill>
                  <a:srgbClr val="333333"/>
                </a:solidFill>
                <a:cs typeface="Times New Roman" panose="02020603050405020304" pitchFamily="18" charset="0"/>
              </a:rPr>
              <a:t> </a:t>
            </a:r>
            <a:r>
              <a:rPr lang="ru-RU" altLang="ru-RU" dirty="0" err="1">
                <a:solidFill>
                  <a:srgbClr val="333333"/>
                </a:solidFill>
                <a:cs typeface="Times New Roman" panose="02020603050405020304" pitchFamily="18" charset="0"/>
              </a:rPr>
              <a:t>finished</a:t>
            </a:r>
            <a:r>
              <a:rPr lang="ru-RU" altLang="ru-RU" dirty="0">
                <a:solidFill>
                  <a:srgbClr val="333333"/>
                </a:solidFill>
                <a:cs typeface="Times New Roman" panose="02020603050405020304" pitchFamily="18" charset="0"/>
              </a:rPr>
              <a:t>.</a:t>
            </a:r>
            <a:endParaRPr lang="ru-RU" altLang="ru-RU" dirty="0">
              <a:cs typeface="Times New Roman" panose="02020603050405020304" pitchFamily="18" charset="0"/>
            </a:endParaRPr>
          </a:p>
          <a:p>
            <a:endParaRPr lang="en-US" altLang="ru-RU" b="1" dirty="0">
              <a:solidFill>
                <a:srgbClr val="333333"/>
              </a:solidFill>
              <a:cs typeface="Times New Roman" panose="02020603050405020304" pitchFamily="18" charset="0"/>
            </a:endParaRPr>
          </a:p>
          <a:p>
            <a:r>
              <a:rPr lang="ru-RU" altLang="ru-RU" b="1" dirty="0" err="1">
                <a:solidFill>
                  <a:srgbClr val="333333"/>
                </a:solidFill>
                <a:cs typeface="Times New Roman" panose="02020603050405020304" pitchFamily="18" charset="0"/>
              </a:rPr>
              <a:t>Ciphertext</a:t>
            </a:r>
            <a:r>
              <a:rPr lang="ru-RU" altLang="ru-RU" dirty="0">
                <a:solidFill>
                  <a:srgbClr val="333333"/>
                </a:solidFill>
                <a:cs typeface="Times New Roman" panose="02020603050405020304" pitchFamily="18" charset="0"/>
              </a:rPr>
              <a:t> = </a:t>
            </a:r>
            <a:r>
              <a:rPr lang="ru-RU" dirty="0"/>
              <a:t>MVWYXMQVYZLW</a:t>
            </a:r>
          </a:p>
        </p:txBody>
      </p:sp>
    </p:spTree>
    <p:extLst>
      <p:ext uri="{BB962C8B-B14F-4D97-AF65-F5344CB8AC3E}">
        <p14:creationId xmlns:p14="http://schemas.microsoft.com/office/powerpoint/2010/main" val="3614941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7">
            <a:extLst>
              <a:ext uri="{FF2B5EF4-FFF2-40B4-BE49-F238E27FC236}">
                <a16:creationId xmlns:a16="http://schemas.microsoft.com/office/drawing/2014/main" id="{36C5978D-641A-D728-5FCC-6065332DC2DE}"/>
              </a:ext>
            </a:extLst>
          </p:cNvPr>
          <p:cNvSpPr>
            <a:spLocks noGrp="1"/>
          </p:cNvSpPr>
          <p:nvPr>
            <p:ph idx="1"/>
          </p:nvPr>
        </p:nvSpPr>
        <p:spPr>
          <a:xfrm>
            <a:off x="1143000" y="430019"/>
            <a:ext cx="9906000" cy="3321230"/>
          </a:xfrm>
          <a:prstGeom prst="rect">
            <a:avLst/>
          </a:prstGeom>
        </p:spPr>
        <p:txBody>
          <a:bodyPr wrap="square">
            <a:spAutoFit/>
          </a:bodyPr>
          <a:lstStyle/>
          <a:p>
            <a:pPr lvl="0" algn="just" eaLnBrk="0" fontAlgn="base" hangingPunct="0">
              <a:spcBef>
                <a:spcPct val="0"/>
              </a:spcBef>
              <a:spcAft>
                <a:spcPct val="0"/>
              </a:spcAft>
            </a:pPr>
            <a:r>
              <a:rPr lang="ru-RU" altLang="ru-RU" sz="1600" b="1" dirty="0" err="1">
                <a:solidFill>
                  <a:srgbClr val="333333"/>
                </a:solidFill>
                <a:cs typeface="Times New Roman" panose="02020603050405020304" pitchFamily="18" charset="0"/>
              </a:rPr>
              <a:t>Decryption</a:t>
            </a:r>
            <a:endParaRPr lang="ru-RU" altLang="ru-RU" sz="1600" dirty="0">
              <a:cs typeface="Times New Roman" panose="02020603050405020304" pitchFamily="18" charset="0"/>
            </a:endParaRPr>
          </a:p>
          <a:p>
            <a:pPr lvl="0" algn="just" eaLnBrk="0" fontAlgn="base" hangingPunct="0">
              <a:spcBef>
                <a:spcPct val="0"/>
              </a:spcBef>
              <a:spcAft>
                <a:spcPct val="0"/>
              </a:spcAft>
            </a:pPr>
            <a:r>
              <a:rPr lang="ru-RU" altLang="ru-RU" sz="1600" dirty="0" err="1">
                <a:solidFill>
                  <a:srgbClr val="333333"/>
                </a:solidFill>
                <a:cs typeface="Times New Roman" panose="02020603050405020304" pitchFamily="18" charset="0"/>
              </a:rPr>
              <a:t>Decryption</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done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by</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row</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of</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keys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in</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vigenere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table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First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select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row</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of</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key</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letter</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find</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ciphertext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letter's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position</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in</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that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row</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and</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then</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select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column</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label</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of</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corresponding</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ciphertext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as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plaintext</a:t>
            </a:r>
            <a:r>
              <a:rPr lang="ru-RU" altLang="ru-RU" sz="1600" dirty="0">
                <a:solidFill>
                  <a:srgbClr val="333333"/>
                </a:solidFill>
                <a:cs typeface="Times New Roman" panose="02020603050405020304" pitchFamily="18" charset="0"/>
              </a:rPr>
              <a:t>.</a:t>
            </a:r>
            <a:endParaRPr lang="ru-RU" altLang="ru-RU" sz="1600" dirty="0">
              <a:cs typeface="Times New Roman" panose="02020603050405020304" pitchFamily="18" charset="0"/>
            </a:endParaRPr>
          </a:p>
          <a:p>
            <a:pPr lvl="0" algn="just" eaLnBrk="0" fontAlgn="base" hangingPunct="0">
              <a:spcBef>
                <a:spcPct val="0"/>
              </a:spcBef>
              <a:spcAft>
                <a:spcPct val="0"/>
              </a:spcAft>
            </a:pPr>
            <a:r>
              <a:rPr lang="ru-RU" altLang="ru-RU" sz="1600" dirty="0">
                <a:cs typeface="Times New Roman" panose="02020603050405020304" pitchFamily="18" charset="0"/>
              </a:rPr>
              <a:t> </a:t>
            </a:r>
          </a:p>
          <a:p>
            <a:pPr lvl="0" algn="just" eaLnBrk="0" fontAlgn="base" hangingPunct="0">
              <a:spcBef>
                <a:spcPct val="0"/>
              </a:spcBef>
              <a:spcAft>
                <a:spcPct val="0"/>
              </a:spcAft>
            </a:pPr>
            <a:r>
              <a:rPr lang="ru-RU" altLang="ru-RU" sz="1600" dirty="0" err="1">
                <a:solidFill>
                  <a:srgbClr val="333333"/>
                </a:solidFill>
                <a:cs typeface="Times New Roman" panose="02020603050405020304" pitchFamily="18" charset="0"/>
              </a:rPr>
              <a:t>For</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example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in</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row</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of</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key</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is</a:t>
            </a:r>
            <a:r>
              <a:rPr lang="ru-RU" altLang="ru-RU" sz="1600" dirty="0">
                <a:solidFill>
                  <a:srgbClr val="333333"/>
                </a:solidFill>
                <a:cs typeface="Times New Roman" panose="02020603050405020304" pitchFamily="18" charset="0"/>
              </a:rPr>
              <a:t> “</a:t>
            </a:r>
            <a:r>
              <a:rPr lang="en-US" altLang="ru-RU" sz="1600" dirty="0">
                <a:solidFill>
                  <a:srgbClr val="333333"/>
                </a:solidFill>
                <a:cs typeface="Times New Roman" panose="02020603050405020304" pitchFamily="18" charset="0"/>
              </a:rPr>
              <a:t>K</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and</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ciphertext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is</a:t>
            </a:r>
            <a:r>
              <a:rPr lang="ru-RU" altLang="ru-RU" sz="1600" dirty="0">
                <a:solidFill>
                  <a:srgbClr val="333333"/>
                </a:solidFill>
                <a:cs typeface="Times New Roman" panose="02020603050405020304" pitchFamily="18" charset="0"/>
              </a:rPr>
              <a:t> “</a:t>
            </a:r>
            <a:r>
              <a:rPr lang="en-US" altLang="ru-RU" sz="1600" dirty="0">
                <a:solidFill>
                  <a:srgbClr val="333333"/>
                </a:solidFill>
                <a:cs typeface="Times New Roman" panose="02020603050405020304" pitchFamily="18" charset="0"/>
              </a:rPr>
              <a:t>M</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and</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this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ciphertext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letter</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appears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in</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column</a:t>
            </a:r>
            <a:r>
              <a:rPr lang="ru-RU" altLang="ru-RU" sz="1600" dirty="0">
                <a:solidFill>
                  <a:srgbClr val="333333"/>
                </a:solidFill>
                <a:cs typeface="Times New Roman" panose="02020603050405020304" pitchFamily="18" charset="0"/>
              </a:rPr>
              <a:t> “</a:t>
            </a:r>
            <a:r>
              <a:rPr lang="en-US" altLang="ru-RU" sz="1600" dirty="0">
                <a:solidFill>
                  <a:srgbClr val="333333"/>
                </a:solidFill>
                <a:cs typeface="Times New Roman" panose="02020603050405020304" pitchFamily="18" charset="0"/>
              </a:rPr>
              <a:t>C</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that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means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first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plaintext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letter</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is</a:t>
            </a:r>
            <a:r>
              <a:rPr lang="ru-RU" altLang="ru-RU" sz="1600" dirty="0">
                <a:solidFill>
                  <a:srgbClr val="333333"/>
                </a:solidFill>
                <a:cs typeface="Times New Roman" panose="02020603050405020304" pitchFamily="18" charset="0"/>
              </a:rPr>
              <a:t> “</a:t>
            </a:r>
            <a:r>
              <a:rPr lang="en-US" altLang="ru-RU" sz="1600" dirty="0">
                <a:solidFill>
                  <a:srgbClr val="333333"/>
                </a:solidFill>
                <a:cs typeface="Times New Roman" panose="02020603050405020304" pitchFamily="18" charset="0"/>
              </a:rPr>
              <a:t>C</a:t>
            </a:r>
            <a:r>
              <a:rPr lang="ru-RU" altLang="ru-RU" sz="1600" dirty="0">
                <a:solidFill>
                  <a:srgbClr val="333333"/>
                </a:solidFill>
                <a:cs typeface="Times New Roman" panose="02020603050405020304" pitchFamily="18" charset="0"/>
              </a:rPr>
              <a:t>".</a:t>
            </a:r>
            <a:endParaRPr lang="ru-RU" altLang="ru-RU" sz="1600" dirty="0">
              <a:cs typeface="Times New Roman" panose="02020603050405020304" pitchFamily="18" charset="0"/>
            </a:endParaRPr>
          </a:p>
          <a:p>
            <a:pPr lvl="0" algn="just" eaLnBrk="0" fontAlgn="base" hangingPunct="0">
              <a:spcBef>
                <a:spcPct val="0"/>
              </a:spcBef>
              <a:spcAft>
                <a:spcPct val="0"/>
              </a:spcAft>
            </a:pPr>
            <a:r>
              <a:rPr lang="ru-RU" altLang="ru-RU" sz="1600" dirty="0" err="1">
                <a:solidFill>
                  <a:srgbClr val="333333"/>
                </a:solidFill>
                <a:cs typeface="Times New Roman" panose="02020603050405020304" pitchFamily="18" charset="0"/>
              </a:rPr>
              <a:t>Next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in</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row</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of</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key</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is</a:t>
            </a:r>
            <a:r>
              <a:rPr lang="ru-RU" altLang="ru-RU" sz="1600" dirty="0">
                <a:solidFill>
                  <a:srgbClr val="333333"/>
                </a:solidFill>
                <a:cs typeface="Times New Roman" panose="02020603050405020304" pitchFamily="18" charset="0"/>
              </a:rPr>
              <a:t> "E" </a:t>
            </a:r>
            <a:r>
              <a:rPr lang="ru-RU" altLang="ru-RU" sz="1600" dirty="0" err="1">
                <a:solidFill>
                  <a:srgbClr val="333333"/>
                </a:solidFill>
                <a:cs typeface="Times New Roman" panose="02020603050405020304" pitchFamily="18" charset="0"/>
              </a:rPr>
              <a:t>and</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ciphertext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is</a:t>
            </a:r>
            <a:r>
              <a:rPr lang="ru-RU" altLang="ru-RU" sz="1600" dirty="0">
                <a:solidFill>
                  <a:srgbClr val="333333"/>
                </a:solidFill>
                <a:cs typeface="Times New Roman" panose="02020603050405020304" pitchFamily="18" charset="0"/>
              </a:rPr>
              <a:t> “</a:t>
            </a:r>
            <a:r>
              <a:rPr lang="en-US" altLang="ru-RU" sz="1600" dirty="0">
                <a:solidFill>
                  <a:srgbClr val="333333"/>
                </a:solidFill>
                <a:cs typeface="Times New Roman" panose="02020603050405020304" pitchFamily="18" charset="0"/>
              </a:rPr>
              <a:t>V</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and</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this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ciphertext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letter</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appears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in</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column</a:t>
            </a:r>
            <a:r>
              <a:rPr lang="ru-RU" altLang="ru-RU" sz="1600" dirty="0">
                <a:solidFill>
                  <a:srgbClr val="333333"/>
                </a:solidFill>
                <a:cs typeface="Times New Roman" panose="02020603050405020304" pitchFamily="18" charset="0"/>
              </a:rPr>
              <a:t> “</a:t>
            </a:r>
            <a:r>
              <a:rPr lang="en-US" altLang="ru-RU" sz="1600" dirty="0">
                <a:solidFill>
                  <a:srgbClr val="333333"/>
                </a:solidFill>
                <a:cs typeface="Times New Roman" panose="02020603050405020304" pitchFamily="18" charset="0"/>
              </a:rPr>
              <a:t>R</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that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means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second</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plaintext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letter</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is</a:t>
            </a:r>
            <a:r>
              <a:rPr lang="ru-RU" altLang="ru-RU" sz="1600" dirty="0">
                <a:solidFill>
                  <a:srgbClr val="333333"/>
                </a:solidFill>
                <a:cs typeface="Times New Roman" panose="02020603050405020304" pitchFamily="18" charset="0"/>
              </a:rPr>
              <a:t> “</a:t>
            </a:r>
            <a:r>
              <a:rPr lang="en-US" altLang="ru-RU" sz="1600" dirty="0">
                <a:solidFill>
                  <a:srgbClr val="333333"/>
                </a:solidFill>
                <a:cs typeface="Times New Roman" panose="02020603050405020304" pitchFamily="18" charset="0"/>
              </a:rPr>
              <a:t>R</a:t>
            </a:r>
            <a:r>
              <a:rPr lang="ru-RU" altLang="ru-RU" sz="1600" dirty="0">
                <a:solidFill>
                  <a:srgbClr val="333333"/>
                </a:solidFill>
                <a:cs typeface="Times New Roman" panose="02020603050405020304" pitchFamily="18" charset="0"/>
              </a:rPr>
              <a:t>".</a:t>
            </a:r>
            <a:endParaRPr lang="ru-RU" altLang="ru-RU" sz="1600" dirty="0">
              <a:cs typeface="Times New Roman" panose="02020603050405020304" pitchFamily="18" charset="0"/>
            </a:endParaRPr>
          </a:p>
          <a:p>
            <a:pPr lvl="0" algn="just" eaLnBrk="0" fontAlgn="base" hangingPunct="0">
              <a:spcBef>
                <a:spcPct val="0"/>
              </a:spcBef>
              <a:spcAft>
                <a:spcPct val="0"/>
              </a:spcAft>
            </a:pPr>
            <a:r>
              <a:rPr lang="ru-RU" altLang="ru-RU" sz="1600" dirty="0" err="1">
                <a:solidFill>
                  <a:srgbClr val="333333"/>
                </a:solidFill>
                <a:cs typeface="Times New Roman" panose="02020603050405020304" pitchFamily="18" charset="0"/>
              </a:rPr>
              <a:t>This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process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continues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continuously</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until</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the</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ciphertext</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is</a:t>
            </a:r>
            <a:r>
              <a:rPr lang="ru-RU" altLang="ru-RU" sz="1600" dirty="0">
                <a:solidFill>
                  <a:srgbClr val="333333"/>
                </a:solidFill>
                <a:cs typeface="Times New Roman" panose="02020603050405020304" pitchFamily="18" charset="0"/>
              </a:rPr>
              <a:t> </a:t>
            </a:r>
            <a:r>
              <a:rPr lang="ru-RU" altLang="ru-RU" sz="1600" dirty="0" err="1">
                <a:solidFill>
                  <a:srgbClr val="333333"/>
                </a:solidFill>
                <a:cs typeface="Times New Roman" panose="02020603050405020304" pitchFamily="18" charset="0"/>
              </a:rPr>
              <a:t>finished</a:t>
            </a:r>
            <a:r>
              <a:rPr lang="ru-RU" altLang="ru-RU" sz="1600" dirty="0">
                <a:solidFill>
                  <a:srgbClr val="333333"/>
                </a:solidFill>
                <a:cs typeface="Times New Roman" panose="02020603050405020304" pitchFamily="18" charset="0"/>
              </a:rPr>
              <a:t>.</a:t>
            </a:r>
            <a:endParaRPr lang="ru-RU" altLang="ru-RU" sz="1600" dirty="0">
              <a:cs typeface="Times New Roman" panose="02020603050405020304" pitchFamily="18" charset="0"/>
            </a:endParaRPr>
          </a:p>
          <a:p>
            <a:pPr lvl="0" algn="just" eaLnBrk="0" fontAlgn="base" hangingPunct="0">
              <a:spcBef>
                <a:spcPct val="0"/>
              </a:spcBef>
              <a:spcAft>
                <a:spcPct val="0"/>
              </a:spcAft>
            </a:pPr>
            <a:r>
              <a:rPr lang="ru-RU" altLang="ru-RU" sz="1600" b="1" dirty="0">
                <a:solidFill>
                  <a:srgbClr val="333333"/>
                </a:solidFill>
                <a:cs typeface="Times New Roman" panose="02020603050405020304" pitchFamily="18" charset="0"/>
              </a:rPr>
              <a:t>Plaintext</a:t>
            </a:r>
            <a:r>
              <a:rPr lang="ru-RU" altLang="ru-RU" sz="1600" dirty="0">
                <a:solidFill>
                  <a:srgbClr val="333333"/>
                </a:solidFill>
                <a:cs typeface="Times New Roman" panose="02020603050405020304" pitchFamily="18" charset="0"/>
              </a:rPr>
              <a:t> = </a:t>
            </a:r>
            <a:r>
              <a:rPr lang="en-US" altLang="ru-RU" sz="1600" b="1" dirty="0">
                <a:solidFill>
                  <a:srgbClr val="333333"/>
                </a:solidFill>
                <a:cs typeface="Times New Roman" panose="02020603050405020304" pitchFamily="18" charset="0"/>
              </a:rPr>
              <a:t>CRYPTOGRAPHY</a:t>
            </a:r>
          </a:p>
          <a:p>
            <a:pPr marL="0" lvl="0" indent="0" algn="just" eaLnBrk="0" fontAlgn="base" hangingPunct="0">
              <a:spcBef>
                <a:spcPct val="0"/>
              </a:spcBef>
              <a:spcAft>
                <a:spcPct val="0"/>
              </a:spcAft>
              <a:buNone/>
            </a:pPr>
            <a:endParaRPr lang="en-US" altLang="ru-RU" sz="1600" b="1" dirty="0">
              <a:solidFill>
                <a:srgbClr val="333333"/>
              </a:solidFill>
              <a:cs typeface="Times New Roman" panose="02020603050405020304" pitchFamily="18" charset="0"/>
            </a:endParaRPr>
          </a:p>
        </p:txBody>
      </p:sp>
    </p:spTree>
    <p:extLst>
      <p:ext uri="{BB962C8B-B14F-4D97-AF65-F5344CB8AC3E}">
        <p14:creationId xmlns:p14="http://schemas.microsoft.com/office/powerpoint/2010/main" val="1519221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2CCB5E-7F26-25F4-D2F5-B37B1EFF7875}"/>
              </a:ext>
            </a:extLst>
          </p:cNvPr>
          <p:cNvSpPr>
            <a:spLocks noGrp="1"/>
          </p:cNvSpPr>
          <p:nvPr>
            <p:ph idx="1"/>
          </p:nvPr>
        </p:nvSpPr>
        <p:spPr/>
        <p:txBody>
          <a:bodyPr/>
          <a:lstStyle/>
          <a:p>
            <a:r>
              <a:rPr lang="en-US" sz="2400" dirty="0">
                <a:solidFill>
                  <a:schemeClr val="bg1"/>
                </a:solidFill>
              </a:rPr>
              <a:t>Task: E</a:t>
            </a:r>
            <a:r>
              <a:rPr lang="ru-RU" sz="2400" dirty="0">
                <a:solidFill>
                  <a:schemeClr val="bg1"/>
                </a:solidFill>
              </a:rPr>
              <a:t>ncrypt </a:t>
            </a:r>
            <a:r>
              <a:rPr lang="en-US" sz="2400" dirty="0">
                <a:solidFill>
                  <a:schemeClr val="bg1"/>
                </a:solidFill>
              </a:rPr>
              <a:t>and</a:t>
            </a:r>
            <a:r>
              <a:rPr lang="ru-RU" sz="2400" dirty="0">
                <a:solidFill>
                  <a:schemeClr val="bg1"/>
                </a:solidFill>
              </a:rPr>
              <a:t> decrypt </a:t>
            </a:r>
            <a:r>
              <a:rPr lang="en-US" sz="2400" dirty="0">
                <a:solidFill>
                  <a:schemeClr val="bg1"/>
                </a:solidFill>
              </a:rPr>
              <a:t>the </a:t>
            </a:r>
            <a:r>
              <a:rPr lang="ru-RU" sz="2400" dirty="0">
                <a:solidFill>
                  <a:schemeClr val="bg1"/>
                </a:solidFill>
              </a:rPr>
              <a:t>text</a:t>
            </a:r>
            <a:r>
              <a:rPr lang="en-US" sz="2400" dirty="0">
                <a:solidFill>
                  <a:schemeClr val="bg1"/>
                </a:solidFill>
              </a:rPr>
              <a:t> (use your name)</a:t>
            </a:r>
            <a:r>
              <a:rPr lang="ru-RU" sz="2400" dirty="0">
                <a:solidFill>
                  <a:schemeClr val="bg1"/>
                </a:solidFill>
              </a:rPr>
              <a:t> using the </a:t>
            </a:r>
            <a:r>
              <a:rPr lang="en-US" b="1" dirty="0" err="1">
                <a:solidFill>
                  <a:schemeClr val="bg1"/>
                </a:solidFill>
              </a:rPr>
              <a:t>Vegenere</a:t>
            </a:r>
            <a:r>
              <a:rPr lang="en-US" b="1" dirty="0">
                <a:solidFill>
                  <a:schemeClr val="bg1"/>
                </a:solidFill>
              </a:rPr>
              <a:t> </a:t>
            </a:r>
            <a:r>
              <a:rPr lang="en-US" sz="2400" b="1" dirty="0">
                <a:solidFill>
                  <a:schemeClr val="bg1"/>
                </a:solidFill>
              </a:rPr>
              <a:t>Cipher </a:t>
            </a:r>
          </a:p>
          <a:p>
            <a:pPr marL="0" indent="0">
              <a:buNone/>
            </a:pPr>
            <a:r>
              <a:rPr lang="ru-RU" sz="2400" dirty="0">
                <a:solidFill>
                  <a:schemeClr val="bg1"/>
                </a:solidFill>
              </a:rPr>
              <a:t>with a key</a:t>
            </a:r>
            <a:r>
              <a:rPr lang="en-US" dirty="0">
                <a:solidFill>
                  <a:schemeClr val="bg1"/>
                </a:solidFill>
              </a:rPr>
              <a:t>word: </a:t>
            </a:r>
            <a:r>
              <a:rPr lang="en-US" u="sng" dirty="0">
                <a:solidFill>
                  <a:schemeClr val="bg1"/>
                </a:solidFill>
              </a:rPr>
              <a:t>KEY</a:t>
            </a:r>
            <a:endParaRPr lang="en-US" sz="2400" u="sng" dirty="0">
              <a:solidFill>
                <a:schemeClr val="bg1"/>
              </a:solidFill>
            </a:endParaRPr>
          </a:p>
          <a:p>
            <a:endParaRPr lang="en-US" dirty="0"/>
          </a:p>
        </p:txBody>
      </p:sp>
      <p:sp>
        <p:nvSpPr>
          <p:cNvPr id="4" name="Title 1">
            <a:extLst>
              <a:ext uri="{FF2B5EF4-FFF2-40B4-BE49-F238E27FC236}">
                <a16:creationId xmlns:a16="http://schemas.microsoft.com/office/drawing/2014/main" id="{B45C5A85-F188-A4D1-7C88-884A60AFEE44}"/>
              </a:ext>
            </a:extLst>
          </p:cNvPr>
          <p:cNvSpPr>
            <a:spLocks noGrp="1"/>
          </p:cNvSpPr>
          <p:nvPr>
            <p:ph type="title"/>
          </p:nvPr>
        </p:nvSpPr>
        <p:spPr>
          <a:xfrm>
            <a:off x="1141413" y="619125"/>
            <a:ext cx="9906000" cy="1477963"/>
          </a:xfrm>
        </p:spPr>
        <p:txBody>
          <a:bodyPr/>
          <a:lstStyle/>
          <a:p>
            <a:r>
              <a:rPr lang="en-US" dirty="0"/>
              <a:t>Assignment 1.3</a:t>
            </a:r>
            <a:br>
              <a:rPr lang="en-US" dirty="0"/>
            </a:br>
            <a:r>
              <a:rPr lang="en-US" dirty="0">
                <a:solidFill>
                  <a:schemeClr val="bg1"/>
                </a:solidFill>
              </a:rPr>
              <a:t>VEGENERE Cipher</a:t>
            </a:r>
          </a:p>
        </p:txBody>
      </p:sp>
    </p:spTree>
    <p:extLst>
      <p:ext uri="{BB962C8B-B14F-4D97-AF65-F5344CB8AC3E}">
        <p14:creationId xmlns:p14="http://schemas.microsoft.com/office/powerpoint/2010/main" val="464379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71E26-E98A-07AA-808C-3624A26DB6A8}"/>
              </a:ext>
            </a:extLst>
          </p:cNvPr>
          <p:cNvSpPr>
            <a:spLocks noGrp="1"/>
          </p:cNvSpPr>
          <p:nvPr>
            <p:ph type="title"/>
          </p:nvPr>
        </p:nvSpPr>
        <p:spPr/>
        <p:txBody>
          <a:bodyPr/>
          <a:lstStyle/>
          <a:p>
            <a:r>
              <a:rPr lang="en-US" dirty="0">
                <a:solidFill>
                  <a:schemeClr val="bg1"/>
                </a:solidFill>
              </a:rPr>
              <a:t>The Hill cipher</a:t>
            </a:r>
          </a:p>
        </p:txBody>
      </p:sp>
      <p:sp>
        <p:nvSpPr>
          <p:cNvPr id="3" name="Content Placeholder 2">
            <a:extLst>
              <a:ext uri="{FF2B5EF4-FFF2-40B4-BE49-F238E27FC236}">
                <a16:creationId xmlns:a16="http://schemas.microsoft.com/office/drawing/2014/main" id="{F4C00545-9382-7CBB-3DBA-A99A49F69F5A}"/>
              </a:ext>
            </a:extLst>
          </p:cNvPr>
          <p:cNvSpPr>
            <a:spLocks noGrp="1"/>
          </p:cNvSpPr>
          <p:nvPr>
            <p:ph idx="1"/>
          </p:nvPr>
        </p:nvSpPr>
        <p:spPr/>
        <p:txBody>
          <a:bodyPr>
            <a:normAutofit/>
          </a:bodyPr>
          <a:lstStyle/>
          <a:p>
            <a:r>
              <a:rPr lang="en-US" sz="1600" b="1" i="0" dirty="0">
                <a:solidFill>
                  <a:srgbClr val="212529"/>
                </a:solidFill>
                <a:effectLst/>
                <a:latin typeface="Trebuchet MS" panose="020B0603020202020204" pitchFamily="34" charset="0"/>
              </a:rPr>
              <a:t>Hill</a:t>
            </a:r>
            <a:r>
              <a:rPr lang="en-US" sz="1600" b="0" i="0" dirty="0">
                <a:solidFill>
                  <a:srgbClr val="212529"/>
                </a:solidFill>
                <a:effectLst/>
                <a:latin typeface="Trebuchet MS" panose="020B0603020202020204" pitchFamily="34" charset="0"/>
              </a:rPr>
              <a:t> Cipher is a polyalphabetic cipher created by extending the </a:t>
            </a:r>
            <a:r>
              <a:rPr lang="en-US" sz="1600" b="1" i="0" u="none" strike="noStrike" dirty="0">
                <a:solidFill>
                  <a:srgbClr val="BF0000"/>
                </a:solidFill>
                <a:effectLst/>
                <a:latin typeface="Trebuchet MS" panose="020B0603020202020204" pitchFamily="34" charset="0"/>
                <a:hlinkClick r:id="rId2"/>
              </a:rPr>
              <a:t>Affine cipher</a:t>
            </a:r>
            <a:r>
              <a:rPr lang="en-US" sz="1600" b="0" i="0" dirty="0">
                <a:solidFill>
                  <a:srgbClr val="212529"/>
                </a:solidFill>
                <a:effectLst/>
                <a:latin typeface="Trebuchet MS" panose="020B0603020202020204" pitchFamily="34" charset="0"/>
              </a:rPr>
              <a:t>, using linear algebra and </a:t>
            </a:r>
            <a:r>
              <a:rPr lang="en-US" sz="1600" b="1" i="0" u="none" strike="noStrike" dirty="0">
                <a:solidFill>
                  <a:srgbClr val="BF0000"/>
                </a:solidFill>
                <a:effectLst/>
                <a:latin typeface="Trebuchet MS" panose="020B0603020202020204" pitchFamily="34" charset="0"/>
                <a:hlinkClick r:id="rId3"/>
              </a:rPr>
              <a:t>modular arithmetic</a:t>
            </a:r>
            <a:r>
              <a:rPr lang="en-US" sz="1600" b="0" i="0" dirty="0">
                <a:solidFill>
                  <a:srgbClr val="212529"/>
                </a:solidFill>
                <a:effectLst/>
                <a:latin typeface="Trebuchet MS" panose="020B0603020202020204" pitchFamily="34" charset="0"/>
              </a:rPr>
              <a:t> via a numeric matrix that serves as an encryption and decryption key.</a:t>
            </a:r>
          </a:p>
          <a:p>
            <a:r>
              <a:rPr lang="en-US" sz="1600" b="1" i="0" dirty="0">
                <a:solidFill>
                  <a:srgbClr val="212529"/>
                </a:solidFill>
                <a:effectLst/>
                <a:latin typeface="Trebuchet MS" panose="020B0603020202020204" pitchFamily="34" charset="0"/>
              </a:rPr>
              <a:t>Hill</a:t>
            </a:r>
            <a:r>
              <a:rPr lang="en-US" sz="1600" b="0" i="0" dirty="0">
                <a:solidFill>
                  <a:srgbClr val="212529"/>
                </a:solidFill>
                <a:effectLst/>
                <a:latin typeface="Trebuchet MS" panose="020B0603020202020204" pitchFamily="34" charset="0"/>
              </a:rPr>
              <a:t> cipher encryption uses an alphabet and a square matrix </a:t>
            </a:r>
            <a:r>
              <a:rPr lang="en-US" sz="1600" b="0" i="1" dirty="0">
                <a:solidFill>
                  <a:srgbClr val="212529"/>
                </a:solidFill>
                <a:effectLst/>
                <a:latin typeface="MJXc-TeX-math-I"/>
              </a:rPr>
              <a:t>M</a:t>
            </a:r>
            <a:r>
              <a:rPr lang="en-US" sz="1600" b="0" i="0" dirty="0">
                <a:solidFill>
                  <a:srgbClr val="212529"/>
                </a:solidFill>
                <a:effectLst/>
                <a:latin typeface="Trebuchet MS" panose="020B0603020202020204" pitchFamily="34" charset="0"/>
              </a:rPr>
              <a:t> of size </a:t>
            </a:r>
            <a:r>
              <a:rPr lang="en-US" sz="1600" b="0" i="1" dirty="0">
                <a:solidFill>
                  <a:srgbClr val="212529"/>
                </a:solidFill>
                <a:effectLst/>
                <a:latin typeface="MJXc-TeX-math-I"/>
              </a:rPr>
              <a:t>n</a:t>
            </a:r>
            <a:r>
              <a:rPr lang="en-US" sz="1600" dirty="0">
                <a:solidFill>
                  <a:srgbClr val="212529"/>
                </a:solidFill>
                <a:latin typeface="Trebuchet MS" panose="020B0603020202020204" pitchFamily="34" charset="0"/>
              </a:rPr>
              <a:t> </a:t>
            </a:r>
            <a:r>
              <a:rPr lang="en-US" sz="1600" b="0" i="0" dirty="0">
                <a:solidFill>
                  <a:srgbClr val="212529"/>
                </a:solidFill>
                <a:effectLst/>
                <a:latin typeface="Trebuchet MS" panose="020B0603020202020204" pitchFamily="34" charset="0"/>
              </a:rPr>
              <a:t>made up of integers numbers and called an encryption matrix.</a:t>
            </a:r>
          </a:p>
          <a:p>
            <a:r>
              <a:rPr lang="en-US" sz="1600" b="0" i="0" dirty="0">
                <a:solidFill>
                  <a:srgbClr val="212529"/>
                </a:solidFill>
                <a:effectLst/>
                <a:latin typeface="Trebuchet MS" panose="020B0603020202020204" pitchFamily="34" charset="0"/>
              </a:rPr>
              <a:t>For each group of values </a:t>
            </a:r>
            <a:r>
              <a:rPr lang="en-US" sz="1600" b="0" i="1" dirty="0">
                <a:solidFill>
                  <a:srgbClr val="212529"/>
                </a:solidFill>
                <a:effectLst/>
                <a:latin typeface="MJXc-TeX-math-I"/>
              </a:rPr>
              <a:t>P</a:t>
            </a:r>
            <a:r>
              <a:rPr lang="en-US" sz="1600" dirty="0">
                <a:solidFill>
                  <a:srgbClr val="212529"/>
                </a:solidFill>
                <a:latin typeface="Trebuchet MS" panose="020B0603020202020204" pitchFamily="34" charset="0"/>
              </a:rPr>
              <a:t> </a:t>
            </a:r>
            <a:r>
              <a:rPr lang="en-US" sz="1600" b="0" i="0" dirty="0">
                <a:solidFill>
                  <a:srgbClr val="212529"/>
                </a:solidFill>
                <a:effectLst/>
                <a:latin typeface="Trebuchet MS" panose="020B0603020202020204" pitchFamily="34" charset="0"/>
              </a:rPr>
              <a:t>of the plain text (mathematically equivalent to a vector of size </a:t>
            </a:r>
            <a:r>
              <a:rPr lang="en-US" sz="1600" b="0" i="0" dirty="0">
                <a:solidFill>
                  <a:srgbClr val="212529"/>
                </a:solidFill>
                <a:effectLst/>
                <a:latin typeface="MJXc-TeX-math-I"/>
              </a:rPr>
              <a:t>n</a:t>
            </a:r>
            <a:r>
              <a:rPr lang="en-US" sz="1600" b="0" i="0" dirty="0">
                <a:solidFill>
                  <a:srgbClr val="212529"/>
                </a:solidFill>
                <a:effectLst/>
                <a:latin typeface="Trebuchet MS" panose="020B0603020202020204" pitchFamily="34" charset="0"/>
              </a:rPr>
              <a:t>), compute the </a:t>
            </a:r>
            <a:r>
              <a:rPr lang="en-US" sz="1600" b="1" i="0" u="none" strike="noStrike" dirty="0">
                <a:solidFill>
                  <a:srgbClr val="BF0000"/>
                </a:solidFill>
                <a:effectLst/>
                <a:latin typeface="Trebuchet MS" panose="020B0603020202020204" pitchFamily="34" charset="0"/>
                <a:hlinkClick r:id="rId4"/>
              </a:rPr>
              <a:t>multiplication</a:t>
            </a:r>
            <a:r>
              <a:rPr lang="en-US" sz="1600" b="0" i="0" dirty="0">
                <a:solidFill>
                  <a:srgbClr val="212529"/>
                </a:solidFill>
                <a:effectLst/>
                <a:latin typeface="Trebuchet MS" panose="020B0603020202020204" pitchFamily="34" charset="0"/>
              </a:rPr>
              <a:t>"&gt;matrix product:</a:t>
            </a:r>
          </a:p>
          <a:p>
            <a:pPr marL="0" indent="0" algn="ctr">
              <a:buNone/>
            </a:pPr>
            <a:r>
              <a:rPr lang="en-US" sz="1600" b="0" i="0" dirty="0">
                <a:solidFill>
                  <a:srgbClr val="212529"/>
                </a:solidFill>
                <a:effectLst/>
                <a:latin typeface="MJXc-TeX-math-I"/>
              </a:rPr>
              <a:t>MP</a:t>
            </a:r>
            <a:r>
              <a:rPr lang="en-US" sz="1600" b="0" i="0" dirty="0">
                <a:solidFill>
                  <a:srgbClr val="212529"/>
                </a:solidFill>
                <a:effectLst/>
                <a:latin typeface="MJXc-TeX-main-R"/>
              </a:rPr>
              <a:t>≡</a:t>
            </a:r>
            <a:r>
              <a:rPr lang="en-US" sz="1600" b="0" i="0" dirty="0">
                <a:solidFill>
                  <a:srgbClr val="212529"/>
                </a:solidFill>
                <a:effectLst/>
                <a:latin typeface="MJXc-TeX-math-I"/>
              </a:rPr>
              <a:t>C</a:t>
            </a:r>
            <a:r>
              <a:rPr lang="en-US" sz="1600" b="0" i="0" dirty="0">
                <a:solidFill>
                  <a:srgbClr val="212529"/>
                </a:solidFill>
                <a:effectLst/>
                <a:latin typeface="MJXc-TeX-main-R"/>
              </a:rPr>
              <a:t>mod26</a:t>
            </a:r>
            <a:endParaRPr lang="en-US" sz="1600" b="0" i="0" dirty="0">
              <a:solidFill>
                <a:srgbClr val="212529"/>
              </a:solidFill>
              <a:effectLst/>
              <a:latin typeface="Trebuchet MS" panose="020B0603020202020204" pitchFamily="34" charset="0"/>
            </a:endParaRPr>
          </a:p>
          <a:p>
            <a:pPr marL="0" indent="0">
              <a:buNone/>
            </a:pPr>
            <a:r>
              <a:rPr lang="en-US" sz="1600" b="0" i="0" dirty="0">
                <a:solidFill>
                  <a:srgbClr val="212529"/>
                </a:solidFill>
                <a:effectLst/>
                <a:latin typeface="Trebuchet MS" panose="020B0603020202020204" pitchFamily="34" charset="0"/>
              </a:rPr>
              <a:t>where </a:t>
            </a:r>
            <a:r>
              <a:rPr lang="en-US" sz="1600" b="0" i="0" dirty="0">
                <a:solidFill>
                  <a:srgbClr val="212529"/>
                </a:solidFill>
                <a:effectLst/>
                <a:latin typeface="MJXc-TeX-math-I"/>
              </a:rPr>
              <a:t>C</a:t>
            </a:r>
            <a:r>
              <a:rPr lang="en-US" sz="1600" b="0" i="0" dirty="0">
                <a:solidFill>
                  <a:srgbClr val="212529"/>
                </a:solidFill>
                <a:effectLst/>
                <a:latin typeface="Trebuchet MS" panose="020B0603020202020204" pitchFamily="34" charset="0"/>
              </a:rPr>
              <a:t> is the calculated vector (a group) of ciphered values and </a:t>
            </a:r>
            <a:r>
              <a:rPr lang="en-US" sz="1600" b="0" i="0" dirty="0">
                <a:solidFill>
                  <a:srgbClr val="212529"/>
                </a:solidFill>
                <a:effectLst/>
                <a:latin typeface="MJXc-TeX-main-R"/>
              </a:rPr>
              <a:t>26</a:t>
            </a:r>
            <a:r>
              <a:rPr lang="en-US" sz="1600" b="0" i="0" dirty="0">
                <a:solidFill>
                  <a:srgbClr val="212529"/>
                </a:solidFill>
                <a:effectLst/>
                <a:latin typeface="Trebuchet MS" panose="020B0603020202020204" pitchFamily="34" charset="0"/>
              </a:rPr>
              <a:t> is the alphabet length.</a:t>
            </a:r>
            <a:endParaRPr lang="en-US" sz="1600" dirty="0"/>
          </a:p>
        </p:txBody>
      </p:sp>
    </p:spTree>
    <p:extLst>
      <p:ext uri="{BB962C8B-B14F-4D97-AF65-F5344CB8AC3E}">
        <p14:creationId xmlns:p14="http://schemas.microsoft.com/office/powerpoint/2010/main" val="2225742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FA42C-B0F0-2C25-3837-AC8EBB1798AC}"/>
              </a:ext>
            </a:extLst>
          </p:cNvPr>
          <p:cNvSpPr>
            <a:spLocks noGrp="1"/>
          </p:cNvSpPr>
          <p:nvPr>
            <p:ph type="title"/>
          </p:nvPr>
        </p:nvSpPr>
        <p:spPr/>
        <p:txBody>
          <a:bodyPr/>
          <a:lstStyle/>
          <a:p>
            <a:r>
              <a:rPr lang="en-US" dirty="0">
                <a:solidFill>
                  <a:schemeClr val="bg1"/>
                </a:solidFill>
              </a:rPr>
              <a:t>The Hill cipher</a:t>
            </a:r>
            <a:endParaRPr lang="en-US" dirty="0"/>
          </a:p>
        </p:txBody>
      </p:sp>
      <p:pic>
        <p:nvPicPr>
          <p:cNvPr id="4" name="Content Placeholder 5">
            <a:extLst>
              <a:ext uri="{FF2B5EF4-FFF2-40B4-BE49-F238E27FC236}">
                <a16:creationId xmlns:a16="http://schemas.microsoft.com/office/drawing/2014/main" id="{94EE35D0-6D41-A986-37CB-60B716892F35}"/>
              </a:ext>
            </a:extLst>
          </p:cNvPr>
          <p:cNvPicPr>
            <a:picLocks noGrp="1" noChangeAspect="1"/>
          </p:cNvPicPr>
          <p:nvPr>
            <p:ph idx="1"/>
          </p:nvPr>
        </p:nvPicPr>
        <p:blipFill>
          <a:blip r:embed="rId2"/>
          <a:stretch>
            <a:fillRect/>
          </a:stretch>
        </p:blipFill>
        <p:spPr>
          <a:xfrm>
            <a:off x="2673949" y="2036439"/>
            <a:ext cx="5702593" cy="3492679"/>
          </a:xfrm>
          <a:prstGeom prst="rect">
            <a:avLst/>
          </a:prstGeom>
        </p:spPr>
      </p:pic>
    </p:spTree>
    <p:extLst>
      <p:ext uri="{BB962C8B-B14F-4D97-AF65-F5344CB8AC3E}">
        <p14:creationId xmlns:p14="http://schemas.microsoft.com/office/powerpoint/2010/main" val="995468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303E7-8287-D824-4D70-877C82BD96A0}"/>
              </a:ext>
            </a:extLst>
          </p:cNvPr>
          <p:cNvSpPr>
            <a:spLocks noGrp="1"/>
          </p:cNvSpPr>
          <p:nvPr>
            <p:ph type="title"/>
          </p:nvPr>
        </p:nvSpPr>
        <p:spPr/>
        <p:txBody>
          <a:bodyPr/>
          <a:lstStyle/>
          <a:p>
            <a:r>
              <a:rPr lang="en-US" dirty="0"/>
              <a:t>Assignment 1.4</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B8080C6-87DC-5DFB-0F93-E86EB6E17548}"/>
                  </a:ext>
                </a:extLst>
              </p:cNvPr>
              <p:cNvSpPr txBox="1"/>
              <p:nvPr/>
            </p:nvSpPr>
            <p:spPr>
              <a:xfrm>
                <a:off x="1271295" y="2097088"/>
                <a:ext cx="9905997" cy="169309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212529"/>
                    </a:solidFill>
                    <a:latin typeface="Trebuchet MS" panose="020B0603020202020204" pitchFamily="34" charset="0"/>
                  </a:rPr>
                  <a:t>a</a:t>
                </a:r>
                <a:r>
                  <a:rPr kumimoji="0" lang="en-US" altLang="en-US" sz="1800" b="0" i="0" u="none" strike="noStrike" cap="none" normalizeH="0" baseline="0" dirty="0">
                    <a:ln>
                      <a:noFill/>
                    </a:ln>
                    <a:solidFill>
                      <a:srgbClr val="212529"/>
                    </a:solidFill>
                    <a:effectLst/>
                    <a:latin typeface="Trebuchet MS" panose="020B0603020202020204" pitchFamily="34" charset="0"/>
                  </a:rPr>
                  <a:t>)Encrypt the plain text (</a:t>
                </a:r>
                <a:r>
                  <a:rPr kumimoji="0" lang="en-US" altLang="en-US" sz="1800" b="1" i="1" u="sng" strike="noStrike" cap="none" normalizeH="0" baseline="0" dirty="0">
                    <a:ln>
                      <a:noFill/>
                    </a:ln>
                    <a:solidFill>
                      <a:srgbClr val="212529"/>
                    </a:solidFill>
                    <a:effectLst/>
                    <a:latin typeface="Trebuchet MS" panose="020B0603020202020204" pitchFamily="34" charset="0"/>
                  </a:rPr>
                  <a:t>use your name as a plaintext)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Trebuchet MS" panose="020B0603020202020204" pitchFamily="34" charset="0"/>
                  </a:rPr>
                  <a:t>with the Latin alphabet </a:t>
                </a:r>
                <a:r>
                  <a:rPr kumimoji="0" lang="en-US" altLang="en-US" sz="1800" b="0" i="0" u="none" strike="noStrike" cap="none" normalizeH="0" baseline="0" dirty="0">
                    <a:ln>
                      <a:noFill/>
                    </a:ln>
                    <a:solidFill>
                      <a:srgbClr val="212529"/>
                    </a:solidFill>
                    <a:effectLst/>
                    <a:latin typeface="Lucida Console" panose="020B0609040504020204" pitchFamily="49" charset="0"/>
                  </a:rPr>
                  <a:t>ABCDEFGHIJKLMNOPQRSTUVWXYZ</a:t>
                </a:r>
                <a:endParaRPr kumimoji="0" lang="en-US" altLang="en-US" sz="1800" b="0" i="0" u="none" strike="noStrike" cap="none" normalizeH="0" baseline="0" dirty="0">
                  <a:ln>
                    <a:noFill/>
                  </a:ln>
                  <a:solidFill>
                    <a:srgbClr val="212529"/>
                  </a:solidFill>
                  <a:effectLst/>
                  <a:latin typeface="Trebuchet MS" panose="020B0603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12529"/>
                    </a:solidFill>
                    <a:effectLst/>
                    <a:latin typeface="Trebuchet MS" panose="020B0603020202020204" pitchFamily="34" charset="0"/>
                  </a:rPr>
                  <a:t>and the matrix </a:t>
                </a:r>
                <a:r>
                  <a:rPr kumimoji="0" lang="en-US" altLang="en-US" sz="2000" b="0" i="0" u="none" strike="noStrike" cap="none" normalizeH="0" baseline="0" dirty="0">
                    <a:ln>
                      <a:noFill/>
                    </a:ln>
                    <a:solidFill>
                      <a:srgbClr val="212529"/>
                    </a:solidFill>
                    <a:effectLst/>
                    <a:latin typeface="MJXc-TeX-math-I"/>
                  </a:rPr>
                  <a:t>M</a:t>
                </a:r>
                <a:r>
                  <a:rPr kumimoji="0" lang="en-US" altLang="en-US" sz="1800" b="0" i="0" u="none" strike="noStrike" cap="none" normalizeH="0" baseline="0" dirty="0">
                    <a:ln>
                      <a:noFill/>
                    </a:ln>
                    <a:solidFill>
                      <a:srgbClr val="212529"/>
                    </a:solidFill>
                    <a:effectLst/>
                    <a:latin typeface="Trebuchet MS" panose="020B0603020202020204" pitchFamily="34" charset="0"/>
                  </a:rPr>
                  <a:t> (size </a:t>
                </a:r>
                <a:r>
                  <a:rPr kumimoji="0" lang="en-US" altLang="en-US" sz="2000" b="0" i="0" u="none" strike="noStrike" cap="none" normalizeH="0" baseline="0" dirty="0">
                    <a:ln>
                      <a:noFill/>
                    </a:ln>
                    <a:solidFill>
                      <a:srgbClr val="212529"/>
                    </a:solidFill>
                    <a:effectLst/>
                    <a:latin typeface="MJXc-TeX-math-I"/>
                  </a:rPr>
                  <a:t>n</a:t>
                </a:r>
                <a:r>
                  <a:rPr kumimoji="0" lang="en-US" altLang="en-US" sz="2000" b="0" i="0" u="none" strike="noStrike" cap="none" normalizeH="0" baseline="0" dirty="0">
                    <a:ln>
                      <a:noFill/>
                    </a:ln>
                    <a:solidFill>
                      <a:srgbClr val="212529"/>
                    </a:solidFill>
                    <a:effectLst/>
                    <a:latin typeface="MJXc-TeX-main-R"/>
                  </a:rPr>
                  <a:t>=2</a:t>
                </a:r>
                <a:r>
                  <a:rPr kumimoji="0" lang="en-US" altLang="en-US" sz="1800" b="0" i="0" u="none" strike="noStrike" cap="none" normalizeH="0" baseline="0" dirty="0">
                    <a:ln>
                      <a:noFill/>
                    </a:ln>
                    <a:solidFill>
                      <a:srgbClr val="212529"/>
                    </a:solidFill>
                    <a:effectLst/>
                    <a:latin typeface="Trebuchet MS" panose="020B0603020202020204" pitchFamily="34" charset="0"/>
                  </a:rPr>
                  <a:t>) </a:t>
                </a:r>
                <a:r>
                  <a:rPr kumimoji="0" lang="en-US" altLang="en-US" sz="1800" b="0" i="0" u="none" strike="noStrike" cap="none" normalizeH="0" baseline="0" dirty="0">
                    <a:ln>
                      <a:noFill/>
                    </a:ln>
                    <a:solidFill>
                      <a:srgbClr val="212529"/>
                    </a:solidFill>
                    <a:effectLst/>
                    <a:latin typeface="Lucida Console" panose="020B0609040504020204" pitchFamily="49" charset="0"/>
                  </a:rPr>
                  <a:t>by using Hill cipher</a:t>
                </a:r>
                <a:r>
                  <a:rPr kumimoji="0" lang="en-US" altLang="en-US" sz="1800" b="0" i="0" u="none" strike="noStrike" cap="none" normalizeH="0" baseline="0" dirty="0">
                    <a:ln>
                      <a:noFill/>
                    </a:ln>
                    <a:solidFill>
                      <a:srgbClr val="212529"/>
                    </a:solidFill>
                    <a:effectLst/>
                    <a:latin typeface="Trebuchet MS" panose="020B0603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en-US" sz="1800" b="0" i="1" u="none" strike="noStrike" cap="none" normalizeH="0" baseline="0" smtClean="0">
                          <a:ln>
                            <a:noFill/>
                          </a:ln>
                          <a:solidFill>
                            <a:srgbClr val="212529"/>
                          </a:solidFill>
                          <a:effectLst/>
                          <a:latin typeface="Cambria Math" panose="02040503050406030204" pitchFamily="18" charset="0"/>
                        </a:rPr>
                        <m:t>𝑀</m:t>
                      </m:r>
                      <m:r>
                        <a:rPr kumimoji="0" lang="en-US" altLang="en-US" sz="1800" b="0" i="1" u="none" strike="noStrike" cap="none" normalizeH="0" baseline="0" smtClean="0">
                          <a:ln>
                            <a:noFill/>
                          </a:ln>
                          <a:solidFill>
                            <a:srgbClr val="212529"/>
                          </a:solidFill>
                          <a:effectLst/>
                          <a:latin typeface="Cambria Math" panose="02040503050406030204" pitchFamily="18" charset="0"/>
                        </a:rPr>
                        <m:t>=</m:t>
                      </m:r>
                      <m:d>
                        <m:dPr>
                          <m:begChr m:val="|"/>
                          <m:endChr m:val="|"/>
                          <m:ctrlPr>
                            <a:rPr kumimoji="0" lang="en-US" altLang="en-US" sz="1800" b="0" i="1" u="none" strike="noStrike" cap="none" normalizeH="0" baseline="0" smtClean="0">
                              <a:ln>
                                <a:noFill/>
                              </a:ln>
                              <a:solidFill>
                                <a:srgbClr val="212529"/>
                              </a:solidFill>
                              <a:effectLst/>
                              <a:latin typeface="Cambria Math" panose="02040503050406030204" pitchFamily="18" charset="0"/>
                            </a:rPr>
                          </m:ctrlPr>
                        </m:dPr>
                        <m:e>
                          <m:m>
                            <m:mPr>
                              <m:mcs>
                                <m:mc>
                                  <m:mcPr>
                                    <m:count m:val="2"/>
                                    <m:mcJc m:val="center"/>
                                  </m:mcPr>
                                </m:mc>
                              </m:mcs>
                              <m:ctrlPr>
                                <a:rPr kumimoji="0" lang="en-US" altLang="en-US" sz="1800" b="0" i="1" u="none" strike="noStrike" cap="none" normalizeH="0" baseline="0" smtClean="0">
                                  <a:ln>
                                    <a:noFill/>
                                  </a:ln>
                                  <a:solidFill>
                                    <a:srgbClr val="212529"/>
                                  </a:solidFill>
                                  <a:effectLst/>
                                  <a:latin typeface="Cambria Math" panose="02040503050406030204" pitchFamily="18" charset="0"/>
                                </a:rPr>
                              </m:ctrlPr>
                            </m:mPr>
                            <m:mr>
                              <m:e>
                                <m:r>
                                  <m:rPr>
                                    <m:brk m:alnAt="7"/>
                                  </m:rPr>
                                  <a:rPr kumimoji="0" lang="en-US" altLang="en-US" sz="1800" b="0" i="1" u="none" strike="noStrike" cap="none" normalizeH="0" baseline="0" smtClean="0">
                                    <a:ln>
                                      <a:noFill/>
                                    </a:ln>
                                    <a:solidFill>
                                      <a:srgbClr val="212529"/>
                                    </a:solidFill>
                                    <a:effectLst/>
                                    <a:latin typeface="Cambria Math" panose="02040503050406030204" pitchFamily="18" charset="0"/>
                                  </a:rPr>
                                  <m:t>2</m:t>
                                </m:r>
                              </m:e>
                              <m:e>
                                <m:r>
                                  <a:rPr kumimoji="0" lang="en-US" altLang="en-US" sz="1800" b="0" i="1" u="none" strike="noStrike" cap="none" normalizeH="0" baseline="0" smtClean="0">
                                    <a:ln>
                                      <a:noFill/>
                                    </a:ln>
                                    <a:solidFill>
                                      <a:srgbClr val="212529"/>
                                    </a:solidFill>
                                    <a:effectLst/>
                                    <a:latin typeface="Cambria Math" panose="02040503050406030204" pitchFamily="18" charset="0"/>
                                  </a:rPr>
                                  <m:t>3</m:t>
                                </m:r>
                              </m:e>
                            </m:mr>
                            <m:mr>
                              <m:e>
                                <m:r>
                                  <a:rPr kumimoji="0" lang="en-US" altLang="en-US" sz="1800" b="0" i="1" u="none" strike="noStrike" cap="none" normalizeH="0" baseline="0" smtClean="0">
                                    <a:ln>
                                      <a:noFill/>
                                    </a:ln>
                                    <a:solidFill>
                                      <a:srgbClr val="212529"/>
                                    </a:solidFill>
                                    <a:effectLst/>
                                    <a:latin typeface="Cambria Math" panose="02040503050406030204" pitchFamily="18" charset="0"/>
                                  </a:rPr>
                                  <m:t>5</m:t>
                                </m:r>
                              </m:e>
                              <m:e>
                                <m:r>
                                  <a:rPr kumimoji="0" lang="en-US" altLang="en-US" sz="1800" b="0" i="1" u="none" strike="noStrike" cap="none" normalizeH="0" baseline="0" smtClean="0">
                                    <a:ln>
                                      <a:noFill/>
                                    </a:ln>
                                    <a:solidFill>
                                      <a:srgbClr val="212529"/>
                                    </a:solidFill>
                                    <a:effectLst/>
                                    <a:latin typeface="Cambria Math" panose="02040503050406030204" pitchFamily="18" charset="0"/>
                                  </a:rPr>
                                  <m:t>7</m:t>
                                </m:r>
                              </m:e>
                            </m:mr>
                          </m:m>
                        </m:e>
                      </m:d>
                    </m:oMath>
                  </m:oMathPara>
                </a14:m>
                <a:endParaRPr kumimoji="0" lang="en-US" altLang="en-US" sz="1800" b="0" i="0" u="none" strike="noStrike" cap="none" normalizeH="0" baseline="0" dirty="0">
                  <a:ln>
                    <a:noFill/>
                  </a:ln>
                  <a:solidFill>
                    <a:srgbClr val="212529"/>
                  </a:solidFill>
                  <a:effectLst/>
                  <a:latin typeface="Trebuchet MS" panose="020B0603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212529"/>
                    </a:solidFill>
                    <a:latin typeface="Trebuchet MS" panose="020B0603020202020204" pitchFamily="34" charset="0"/>
                  </a:rPr>
                  <a:t>b) Decrypt your message by showing each solution steps.</a:t>
                </a:r>
                <a:endParaRPr kumimoji="0" lang="en-US" altLang="en-US" sz="1800" b="0" i="0" u="none" strike="noStrike" cap="none" normalizeH="0" baseline="0" dirty="0">
                  <a:ln>
                    <a:noFill/>
                  </a:ln>
                  <a:solidFill>
                    <a:srgbClr val="212529"/>
                  </a:solidFill>
                  <a:effectLst/>
                  <a:latin typeface="Trebuchet MS" panose="020B0603020202020204" pitchFamily="34" charset="0"/>
                </a:endParaRPr>
              </a:p>
            </p:txBody>
          </p:sp>
        </mc:Choice>
        <mc:Fallback xmlns="">
          <p:sp>
            <p:nvSpPr>
              <p:cNvPr id="7" name="TextBox 6">
                <a:extLst>
                  <a:ext uri="{FF2B5EF4-FFF2-40B4-BE49-F238E27FC236}">
                    <a16:creationId xmlns:a16="http://schemas.microsoft.com/office/drawing/2014/main" id="{3B8080C6-87DC-5DFB-0F93-E86EB6E17548}"/>
                  </a:ext>
                </a:extLst>
              </p:cNvPr>
              <p:cNvSpPr txBox="1">
                <a:spLocks noRot="1" noChangeAspect="1" noMove="1" noResize="1" noEditPoints="1" noAdjustHandles="1" noChangeArrowheads="1" noChangeShapeType="1" noTextEdit="1"/>
              </p:cNvSpPr>
              <p:nvPr/>
            </p:nvSpPr>
            <p:spPr>
              <a:xfrm>
                <a:off x="1271295" y="2097088"/>
                <a:ext cx="9905997" cy="1693092"/>
              </a:xfrm>
              <a:prstGeom prst="rect">
                <a:avLst/>
              </a:prstGeom>
              <a:blipFill>
                <a:blip r:embed="rId2"/>
                <a:stretch>
                  <a:fillRect l="-554" t="-2158" b="-4317"/>
                </a:stretch>
              </a:blipFill>
            </p:spPr>
            <p:txBody>
              <a:bodyPr/>
              <a:lstStyle/>
              <a:p>
                <a:r>
                  <a:rPr lang="en-US">
                    <a:noFill/>
                  </a:rPr>
                  <a:t> </a:t>
                </a:r>
              </a:p>
            </p:txBody>
          </p:sp>
        </mc:Fallback>
      </mc:AlternateContent>
    </p:spTree>
    <p:extLst>
      <p:ext uri="{BB962C8B-B14F-4D97-AF65-F5344CB8AC3E}">
        <p14:creationId xmlns:p14="http://schemas.microsoft.com/office/powerpoint/2010/main" val="4286764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481F-2B4E-8FB6-6883-C50B2CB6B667}"/>
              </a:ext>
            </a:extLst>
          </p:cNvPr>
          <p:cNvSpPr>
            <a:spLocks noGrp="1"/>
          </p:cNvSpPr>
          <p:nvPr>
            <p:ph type="title"/>
          </p:nvPr>
        </p:nvSpPr>
        <p:spPr/>
        <p:txBody>
          <a:bodyPr/>
          <a:lstStyle/>
          <a:p>
            <a:r>
              <a:rPr lang="en-US" dirty="0">
                <a:solidFill>
                  <a:schemeClr val="bg1"/>
                </a:solidFill>
              </a:rPr>
              <a:t>The Permutation Cipher</a:t>
            </a:r>
          </a:p>
        </p:txBody>
      </p:sp>
      <p:sp>
        <p:nvSpPr>
          <p:cNvPr id="3" name="Content Placeholder 2">
            <a:extLst>
              <a:ext uri="{FF2B5EF4-FFF2-40B4-BE49-F238E27FC236}">
                <a16:creationId xmlns:a16="http://schemas.microsoft.com/office/drawing/2014/main" id="{286E2E40-11AC-AAE5-FB43-26D4463975F3}"/>
              </a:ext>
            </a:extLst>
          </p:cNvPr>
          <p:cNvSpPr>
            <a:spLocks noGrp="1"/>
          </p:cNvSpPr>
          <p:nvPr>
            <p:ph idx="1"/>
          </p:nvPr>
        </p:nvSpPr>
        <p:spPr/>
        <p:txBody>
          <a:bodyPr/>
          <a:lstStyle/>
          <a:p>
            <a:pPr marL="0" indent="0" algn="just">
              <a:buNone/>
            </a:pPr>
            <a:r>
              <a:rPr lang="en-US" b="1" i="0" dirty="0">
                <a:solidFill>
                  <a:srgbClr val="212529"/>
                </a:solidFill>
                <a:effectLst/>
                <a:latin typeface="Trebuchet MS" panose="020B0603020202020204" pitchFamily="34" charset="0"/>
              </a:rPr>
              <a:t>    A </a:t>
            </a:r>
            <a:r>
              <a:rPr lang="en-US" b="1" dirty="0">
                <a:solidFill>
                  <a:srgbClr val="212529"/>
                </a:solidFill>
                <a:latin typeface="Trebuchet MS" panose="020B0603020202020204" pitchFamily="34" charset="0"/>
              </a:rPr>
              <a:t>permutation </a:t>
            </a:r>
            <a:r>
              <a:rPr lang="en-US" b="0" i="0" dirty="0">
                <a:solidFill>
                  <a:srgbClr val="212529"/>
                </a:solidFill>
                <a:effectLst/>
                <a:latin typeface="Trebuchet MS" panose="020B0603020202020204" pitchFamily="34" charset="0"/>
              </a:rPr>
              <a:t>cipher is an encryption method that rearranges the characters in a message into another order/arrangement defined by a </a:t>
            </a:r>
            <a:r>
              <a:rPr lang="en-US" b="1" i="0" dirty="0">
                <a:solidFill>
                  <a:srgbClr val="212529"/>
                </a:solidFill>
                <a:effectLst/>
                <a:latin typeface="Trebuchet MS" panose="020B0603020202020204" pitchFamily="34" charset="0"/>
              </a:rPr>
              <a:t>transposition</a:t>
            </a:r>
            <a:r>
              <a:rPr lang="en-US" b="0" i="0" dirty="0">
                <a:solidFill>
                  <a:srgbClr val="212529"/>
                </a:solidFill>
                <a:effectLst/>
                <a:latin typeface="Trebuchet MS" panose="020B0603020202020204" pitchFamily="34" charset="0"/>
              </a:rPr>
              <a:t> key (or permutation key).</a:t>
            </a:r>
          </a:p>
          <a:p>
            <a:pPr marL="0" indent="0" algn="just">
              <a:buNone/>
            </a:pPr>
            <a:r>
              <a:rPr lang="en-US" b="0" i="0" dirty="0">
                <a:solidFill>
                  <a:srgbClr val="212529"/>
                </a:solidFill>
                <a:effectLst/>
                <a:latin typeface="Trebuchet MS" panose="020B0603020202020204" pitchFamily="34" charset="0"/>
              </a:rPr>
              <a:t>The transposition/permutation key is a series of numbers (often generated from a word) which indicates in which order to arrange the letters.</a:t>
            </a:r>
            <a:endParaRPr lang="en-US" dirty="0"/>
          </a:p>
        </p:txBody>
      </p:sp>
    </p:spTree>
    <p:extLst>
      <p:ext uri="{BB962C8B-B14F-4D97-AF65-F5344CB8AC3E}">
        <p14:creationId xmlns:p14="http://schemas.microsoft.com/office/powerpoint/2010/main" val="1112082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F0183-1358-2A8C-D3C2-FFCC8033AEC8}"/>
              </a:ext>
            </a:extLst>
          </p:cNvPr>
          <p:cNvSpPr>
            <a:spLocks noGrp="1"/>
          </p:cNvSpPr>
          <p:nvPr>
            <p:ph type="title"/>
          </p:nvPr>
        </p:nvSpPr>
        <p:spPr/>
        <p:txBody>
          <a:bodyPr/>
          <a:lstStyle/>
          <a:p>
            <a:r>
              <a:rPr lang="en-US" dirty="0">
                <a:solidFill>
                  <a:schemeClr val="bg1"/>
                </a:solidFill>
              </a:rPr>
              <a:t>The Permutation Cipher</a:t>
            </a:r>
            <a:endParaRPr lang="en-US" dirty="0"/>
          </a:p>
        </p:txBody>
      </p:sp>
      <p:pic>
        <p:nvPicPr>
          <p:cNvPr id="4" name="Content Placeholder 5">
            <a:extLst>
              <a:ext uri="{FF2B5EF4-FFF2-40B4-BE49-F238E27FC236}">
                <a16:creationId xmlns:a16="http://schemas.microsoft.com/office/drawing/2014/main" id="{4F387B77-1B96-2FD7-3FF4-E4FBD23A4F0D}"/>
              </a:ext>
            </a:extLst>
          </p:cNvPr>
          <p:cNvPicPr>
            <a:picLocks noGrp="1" noChangeAspect="1"/>
          </p:cNvPicPr>
          <p:nvPr>
            <p:ph idx="1"/>
          </p:nvPr>
        </p:nvPicPr>
        <p:blipFill>
          <a:blip r:embed="rId2"/>
          <a:stretch>
            <a:fillRect/>
          </a:stretch>
        </p:blipFill>
        <p:spPr>
          <a:xfrm>
            <a:off x="3444431" y="2249488"/>
            <a:ext cx="5299964" cy="3541712"/>
          </a:xfrm>
          <a:prstGeom prst="rect">
            <a:avLst/>
          </a:prstGeom>
        </p:spPr>
      </p:pic>
    </p:spTree>
    <p:extLst>
      <p:ext uri="{BB962C8B-B14F-4D97-AF65-F5344CB8AC3E}">
        <p14:creationId xmlns:p14="http://schemas.microsoft.com/office/powerpoint/2010/main" val="1847346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8F28B-A562-8A19-A580-D57BC6539DDA}"/>
              </a:ext>
            </a:extLst>
          </p:cNvPr>
          <p:cNvSpPr>
            <a:spLocks noGrp="1"/>
          </p:cNvSpPr>
          <p:nvPr>
            <p:ph type="title"/>
          </p:nvPr>
        </p:nvSpPr>
        <p:spPr/>
        <p:txBody>
          <a:bodyPr/>
          <a:lstStyle/>
          <a:p>
            <a:r>
              <a:rPr lang="en-US" dirty="0">
                <a:solidFill>
                  <a:schemeClr val="bg1"/>
                </a:solidFill>
              </a:rPr>
              <a:t>Cryptanalysis</a:t>
            </a:r>
          </a:p>
        </p:txBody>
      </p:sp>
      <p:pic>
        <p:nvPicPr>
          <p:cNvPr id="4" name="Content Placeholder 5">
            <a:extLst>
              <a:ext uri="{FF2B5EF4-FFF2-40B4-BE49-F238E27FC236}">
                <a16:creationId xmlns:a16="http://schemas.microsoft.com/office/drawing/2014/main" id="{D3E3A9A2-0309-4896-73DB-5CE1C4D97F77}"/>
              </a:ext>
            </a:extLst>
          </p:cNvPr>
          <p:cNvPicPr>
            <a:picLocks noGrp="1" noChangeAspect="1"/>
          </p:cNvPicPr>
          <p:nvPr>
            <p:ph idx="1"/>
          </p:nvPr>
        </p:nvPicPr>
        <p:blipFill>
          <a:blip r:embed="rId2"/>
          <a:stretch>
            <a:fillRect/>
          </a:stretch>
        </p:blipFill>
        <p:spPr>
          <a:xfrm>
            <a:off x="1521996" y="2466463"/>
            <a:ext cx="7482045" cy="3570270"/>
          </a:xfrm>
        </p:spPr>
      </p:pic>
    </p:spTree>
    <p:extLst>
      <p:ext uri="{BB962C8B-B14F-4D97-AF65-F5344CB8AC3E}">
        <p14:creationId xmlns:p14="http://schemas.microsoft.com/office/powerpoint/2010/main" val="86564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087BA-8C3A-764C-CAD9-505011FD824F}"/>
              </a:ext>
            </a:extLst>
          </p:cNvPr>
          <p:cNvSpPr>
            <a:spLocks noGrp="1"/>
          </p:cNvSpPr>
          <p:nvPr>
            <p:ph type="title"/>
          </p:nvPr>
        </p:nvSpPr>
        <p:spPr/>
        <p:txBody>
          <a:bodyPr/>
          <a:lstStyle/>
          <a:p>
            <a:r>
              <a:rPr lang="en-US" dirty="0"/>
              <a:t>Assignment 1.5 </a:t>
            </a:r>
          </a:p>
        </p:txBody>
      </p:sp>
      <p:sp>
        <p:nvSpPr>
          <p:cNvPr id="3" name="Content Placeholder 2">
            <a:extLst>
              <a:ext uri="{FF2B5EF4-FFF2-40B4-BE49-F238E27FC236}">
                <a16:creationId xmlns:a16="http://schemas.microsoft.com/office/drawing/2014/main" id="{2B2057FE-22FA-3CC2-0A44-34201CE1D35B}"/>
              </a:ext>
            </a:extLst>
          </p:cNvPr>
          <p:cNvSpPr>
            <a:spLocks noGrp="1"/>
          </p:cNvSpPr>
          <p:nvPr>
            <p:ph idx="1"/>
          </p:nvPr>
        </p:nvSpPr>
        <p:spPr/>
        <p:txBody>
          <a:bodyPr/>
          <a:lstStyle/>
          <a:p>
            <a:r>
              <a:rPr lang="en-US" dirty="0">
                <a:solidFill>
                  <a:schemeClr val="bg1"/>
                </a:solidFill>
              </a:rPr>
              <a:t> Write about one particular type of crypt attack. Explain in which areas it is applied and what kind of features it has. </a:t>
            </a:r>
          </a:p>
        </p:txBody>
      </p:sp>
    </p:spTree>
    <p:extLst>
      <p:ext uri="{BB962C8B-B14F-4D97-AF65-F5344CB8AC3E}">
        <p14:creationId xmlns:p14="http://schemas.microsoft.com/office/powerpoint/2010/main" val="23092882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79702B-25C7-40D7-9E29-7686B11A9660}">
  <ds:schemaRefs>
    <ds:schemaRef ds:uri="http://schemas.microsoft.com/sharepoint/v3/contenttype/forms"/>
  </ds:schemaRefs>
</ds:datastoreItem>
</file>

<file path=customXml/itemProps2.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Problemsolution cycle </Template>
  <TotalTime>2694</TotalTime>
  <Words>1279</Words>
  <Application>Microsoft Office PowerPoint</Application>
  <PresentationFormat>Широкоэкранный</PresentationFormat>
  <Paragraphs>104</Paragraphs>
  <Slides>19</Slides>
  <Notes>0</Notes>
  <HiddenSlides>0</HiddenSlides>
  <MMClips>0</MMClips>
  <ScaleCrop>false</ScaleCrop>
  <HeadingPairs>
    <vt:vector size="6" baseType="variant">
      <vt:variant>
        <vt:lpstr>Использованные шрифты</vt:lpstr>
      </vt:variant>
      <vt:variant>
        <vt:i4>13</vt:i4>
      </vt:variant>
      <vt:variant>
        <vt:lpstr>Тема</vt:lpstr>
      </vt:variant>
      <vt:variant>
        <vt:i4>1</vt:i4>
      </vt:variant>
      <vt:variant>
        <vt:lpstr>Заголовки слайдов</vt:lpstr>
      </vt:variant>
      <vt:variant>
        <vt:i4>19</vt:i4>
      </vt:variant>
    </vt:vector>
  </HeadingPairs>
  <TitlesOfParts>
    <vt:vector size="33" baseType="lpstr">
      <vt:lpstr>Arial</vt:lpstr>
      <vt:lpstr>Calibri</vt:lpstr>
      <vt:lpstr>Cambria Math</vt:lpstr>
      <vt:lpstr>Lato</vt:lpstr>
      <vt:lpstr>Lucida Console</vt:lpstr>
      <vt:lpstr>MJXc-TeX-main-R</vt:lpstr>
      <vt:lpstr>MJXc-TeX-math-I</vt:lpstr>
      <vt:lpstr>Rockwell</vt:lpstr>
      <vt:lpstr>Söhne</vt:lpstr>
      <vt:lpstr>Tahoma</vt:lpstr>
      <vt:lpstr>Times New Roman</vt:lpstr>
      <vt:lpstr>Trebuchet MS</vt:lpstr>
      <vt:lpstr>Tw Cen MT</vt:lpstr>
      <vt:lpstr>Circuit</vt:lpstr>
      <vt:lpstr>CRYPTOGRAPHY</vt:lpstr>
      <vt:lpstr>WEEK 1 Classical Cryptography</vt:lpstr>
      <vt:lpstr>The Shift Cipher</vt:lpstr>
      <vt:lpstr>Assignment 1.1</vt:lpstr>
      <vt:lpstr> The Affine cipher</vt:lpstr>
      <vt:lpstr> The Affine cipher</vt:lpstr>
      <vt:lpstr>Assignment 1.2 Affine Cipher</vt:lpstr>
      <vt:lpstr>Vigenère Cipher</vt:lpstr>
      <vt:lpstr>Презентация PowerPoint</vt:lpstr>
      <vt:lpstr>Презентация PowerPoint</vt:lpstr>
      <vt:lpstr>Презентация PowerPoint</vt:lpstr>
      <vt:lpstr>Assignment 1.3 VEGENERE Cipher</vt:lpstr>
      <vt:lpstr>The Hill cipher</vt:lpstr>
      <vt:lpstr>The Hill cipher</vt:lpstr>
      <vt:lpstr>Assignment 1.4</vt:lpstr>
      <vt:lpstr>The Permutation Cipher</vt:lpstr>
      <vt:lpstr>The Permutation Cipher</vt:lpstr>
      <vt:lpstr>Cryptanalysis</vt:lpstr>
      <vt:lpstr>Assignment 1.5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dc:title>
  <dc:creator>Gulsaya Nurzhaubayeva</dc:creator>
  <cp:lastModifiedBy>Dana Tolegen</cp:lastModifiedBy>
  <cp:revision>7</cp:revision>
  <dcterms:created xsi:type="dcterms:W3CDTF">2024-03-27T05:54:47Z</dcterms:created>
  <dcterms:modified xsi:type="dcterms:W3CDTF">2025-12-08T08:47:13Z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